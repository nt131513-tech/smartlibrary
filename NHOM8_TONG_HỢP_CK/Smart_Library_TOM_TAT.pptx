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thầy và các bạn, nhóm em xin trình bày đề tài Smart Library – Ứng dụng quản lý thư viện và đặt chỗ ngồi thông minh. Đề tài thuộc môn Phát triển Ứng dụng Di động, tập trung xây dựng ứng dụng React Native kết nối Firebase cho hai nhóm người dùng là độc giả và quản thư. Nội dung trình bày đi từ mục tiêu, công nghệ, kiến trúc đến các chức năng thực tế, kết quả và hướng mở rộng. Trong báo cáo tổng quan có đề cập IoT và AI, nhưng bài thuyết trình này sẽ phân biệt rõ phần mobile đã có minh chứng và các tính năng cần tiếp tục triển khai.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mô hình thư viện truyền thống, người dùng khó nắm bắt ngay thông tin sách còn hay hết, sách ở kệ nào và lịch sử tài liệu mình đã mượn. Về phía quản thư, quá trình quản lý danh mục và giao dịch cần tập trung dữ liệu để tránh phải đối chiếu thủ công nhiều nơi. Smart Library hướng đến điện thoại như điểm truy cập chính: độc giả đăng nhập, tra cứu và thao tác mượn/trả; quản thư quản lý sách, tài khoản và trạng thái giao dịch. Dữ liệu nghiệp vụ được kết nối với Firebase. Cần lưu ý tên đề tài có đặt chỗ ngồi thông minh, nhưng source mobile hiện tại và phần đánh giá chương 3–4 chủ yếu chứng minh nhóm tính năng quản lý sách; IoT và AI là hướng mở rộng cần bổ sung demo hoặc mã nguồn để khẳng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công nghệ, dự án sử dụng React Native và Expo để phát triển ứng dụng đa nền tảng, còn TypeScript giúp khai báo cấu trúc dữ liệu rõ ràng hơn. Expo Router ánh xạ tên file trong thư mục src/app thành các màn hình và đường dẫn điều hướng. LibraryContext cung cấp state và hai nghiệp vụ mượn, trả sách cho các màn hình độc giả. Backend sử dụng Firebase Authentication cho tài khoản và Realtime Database cho dữ liệu sách, tài khoản, lịch sử. AsyncStorage hỗ trợ persistence cho phiên đăng nhập; expo-camera truy cập camera để quét mã. Trong tài liệu tổng quan có cả Firestore, Cloud Functions hoặc FCM, nhưng đối chiếu source hiện tại cho thấy Realtime Database là cơ sở dữ liệu chính của ứng dụng mobile. Vì vậy bài trình bày dùng mô tả kỹ thuật bám sát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thực tế có ba vùng trách nhiệm tương đối rõ nhưng chưa phải Clean Architecture hoặc MVVM hoàn chỉnh. Tầng giao diện gồm các màn hình trong src/app và các component chức năng quản trị. Ở phía độc giả, LibraryContext đóng vai trò nguồn dữ liệu dùng chung cho sách và lịch sử, đồng thời định nghĩa các thao tác borrowBook và returnBook. Tầng dữ liệu được khởi tạo trong src/config/firebase.ts; Firebase Authentication đảm nhiệm đăng nhập và Realtime Database lưu bản ghi. Khi dữ liệu thay đổi, listener onValue cập nhật state để giao diện hiển thị thông tin mới. Một điểm quan trọng khi đánh giá là nhiều component quản trị có thể gọi SDK Firebase trực tiếp. Về lâu dài nhóm có thể chuẩn hóa thao tác đọc/ghi trong Service hoặc Repository để dễ test và tránh trùng lặp.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hai giao diện đăng nhập tương ứng với độc giả và quản thư. Người dùng nhập email, mật khẩu và chọn vai trò. Ứng dụng dùng Firebase Authentication để kiểm tra thông tin xác thực, sau đó đọc hồ sơ trong Realtime Database tại users/{uid}. Tùy vai trò, Expo Router điều hướng đến màn hình home hoặc librarian. Màn hình đăng ký có họ tên, email, mật khẩu và xác nhận mật khẩu; ứng dụng cũng hỗ trợ hiển thị hoặc ẩn mật khẩu và truy cập thông tin tài khoản. Tuy nhiên, việc chọn quản thư trên giao diện chưa đủ để chứng minh phân quyền an toàn. Khi đưa vào vận hành cần chỉ cấp role quản trị theo quy trình được kiểm soát và bổ sung Firebase Security Rules ngăn client tự ý sửa quyền hoặc truy cập node dữ liệu nhạy cảm.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phía độc giả, trang chủ được tổ chức thành các thẻ chức năng. Khi chọn tìm kiếm, ứng dụng mở màn hình books.tsx, đọc danh sách từ LibraryContext và lọc trực tiếp theo các trường thông tin. Báo cáo mô tả hỗ trợ tìm theo tên sách, tác giả, thể loại, ISBN hoặc vị trí kệ. Mỗi thẻ sách cho biết những thông tin cơ bản như tên, tác giả, loại tài liệu, nơi lưu trữ và số lượng còn lại, giúp người dùng quyết định có nên xem sâu hơn. Khi nhấn vào một sách, ứng dụng điều hướng đến /book-detail và truy xuất dữ liệu theo ID. Cách lọc tại client phù hợp với quy mô danh mục nhỏ hoặc trung bình, nhưng khi thư viện lớn hơn nên cân nhắc phân trang và tối ưu tìm kiếm tiếng Việt để giảm tải và tăng tốc độ phản hồi.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mượn sách bắt đầu ở màn hình chi tiết. Người dùng lựa chọn số lượng, ứng dụng kiểm tra đầu vào rồi gọi borrowBook(bookId, quantity) trong LibraryContext. Logic này liên hệ dữ liệu sách, tài khoản và bản ghi mượn. Khi thao tác thành công, ứng dụng có hộp thoại phản hồi; dữ liệu giao dịch được hiển thị tại lịch sử của độc giả và ở khu vực quản thư. Với trả sách, ứng dụng cung cấp returnBook() để cập nhật thông tin giao dịch và số lượng còn lại. Màn hình lịch sử phân biệt đang mượn và đã trả, có các trường ngày mượn, hạn trả và ngày trả khi hoàn tất. Do mượn/trả làm thay đổi tồn kho, báo cáo nhấn mạnh phải kiểm thử trường hợp nhiều người mượn đồng thời, mất mạng và gửi yêu cầu lặp. Hiện tài liệu chưa có bộ số liệu kiểm thử thực nghiệm xác nhận độ tin cậy khi tải 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Chức năng quét mã sử dụng thư viện expo-camera. Khi mở màn hình scan-book, ứng dụng yêu cầu quyền camera và hiển thị vùng căn chỉnh mã. Khi camera nhận được barcode hoặc QR, handler xử lý dữ liệu đầu vào, đối chiếu với danh sách sách và xác định đầu sách tương ứng. Giao diện cho phép thao tác lại nếu cần. Trong source, màn hình quét có truy cập useLibrary và gọi borrowBook khi người dùng xác nhận mượn sách. Điểm mạnh là rút ngắn thao tác nhập từ khóa và hạn chế nhầm mã tài liệu. Khi kiểm thử thực tế, nhóm cần kiểm tra từ chối cấp quyền camera, mã không tồn tại, quét lặp và mất kết nối. Báo cáo có ảnh minh họa giao diện nhưng không đưa ra số đo định lượng về tốc độ hoặc tỷ lệ nhận diện mã.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Quản thư được điều hướng đến /librarian và có tập hợp component theo từng nhóm công việc. AdminBookManager quản lý đầu sách, thêm sửa xóa và số lượng. AdminUserManager quản lý người dùng; các module khác hỗ trợ thông tin thẻ, yêu cầu mượn, xác nhận trả và danh sách quá hạn. AdminNotificationManager cung cấp giao diện soạn hoặc quản lý thông báo, còn AdminStatistics thể hiện các chỉ số tổng quan. Báo cáo cũng minh họa các màn hình quản lý thẻ RFID và thống kê. Cần phân biệt giao diện thẻ RFID trong ứng dụng với việc đã tích hợp thiết bị đầu đọc RFID thực tế: source mobile và báo cáo phân tích hiện tại chưa đưa ra đủ bằng chứng phần cứng. Mặt khác, khu vực quản trị có đọc dữ liệu trực tiếp bằng listener từ Realtime Database, vì vậy phân quyền dữ liệu là yếu tố cần được rà soát trước triển khai rộng.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source và các ảnh chụp đã cho thấy ứng dụng Smart Library có bộ chức năng quản lý thư viện di động khá đầy đủ cho hai vai trò. Công nghệ trọng tâm gồm React Native, Expo, TypeScript, Expo Router, Firebase Authentication và Realtime Database. Bên cạnh thành quả, báo cáo phân tích nêu rõ chưa có bảng đo hiệu năng, log hay kết quả tải đồng thời; chưa thể khẳng định độ tin cậy giao dịch và tính bảo mật chỉ bằng giao diện demo. Vì vậy, ưu tiên đầu tiên là kiểm thử mượn/trả, xử lý đồng thời, đối soát tồn kho và bảo vệ Firebase Security Rules. Sau đó, nhóm có thể tách thao tác truy cập dữ liệu sang Service/Repository để giảm phụ thuộc, rồi bổ sung IoT ESP32 và đặt ghế nếu có phần cứng demo, đồng thời nghiên cứu AI gợi ý sách, NFC hoặc thanh toán phí quá hạn như định hướng ở chương 5. Xin cảm ơn thầy và các bạn đã lắng 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2039"/>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A7D8"/>
          </a:solidFill>
          <a:ln w="12700">
            <a:solidFill>
              <a:srgbClr val="00A7D8">
                <a:alpha val="0"/>
              </a:srgbClr>
            </a:solidFill>
            <a:prstDash val="solid"/>
          </a:ln>
        </p:spPr>
      </p:sp>
      <p:sp>
        <p:nvSpPr>
          <p:cNvPr id="3" name="Text 1"/>
          <p:cNvSpPr/>
          <p:nvPr/>
        </p:nvSpPr>
        <p:spPr>
          <a:xfrm>
            <a:off x="603504" y="475488"/>
            <a:ext cx="7790688" cy="283464"/>
          </a:xfrm>
          <a:prstGeom prst="rect">
            <a:avLst/>
          </a:prstGeom>
          <a:noFill/>
        </p:spPr>
        <p:txBody>
          <a:bodyPr wrap="square" lIns="0" tIns="0" rIns="0" bIns="0" rtlCol="0" anchor="ctr">
            <a:normAutofit/>
          </a:bodyPr>
          <a:lstStyle/>
          <a:p>
            <a:pPr marL="0" indent="0">
              <a:buNone/>
            </a:pPr>
            <a:r>
              <a:rPr lang="en-US" sz="1300" b="1" dirty="0">
                <a:solidFill>
                  <a:srgbClr val="D6E7F6"/>
                </a:solidFill>
                <a:latin typeface="Times New Roman" panose="02020603050405020304" pitchFamily="34" charset="0"/>
                <a:ea typeface="Times New Roman" panose="02020603050405020304" pitchFamily="34" charset="-122"/>
                <a:cs typeface="Times New Roman" panose="02020603050405020304" pitchFamily="34" charset="-120"/>
              </a:rPr>
              <a:t>TRƯỜNG ĐẠI HỌC SƯ PHẠM KỸ THUẬT TP. HỒ CHÍ MINH</a:t>
            </a:r>
            <a:endParaRPr lang="en-US" sz="1300" dirty="0"/>
          </a:p>
        </p:txBody>
      </p:sp>
      <p:sp>
        <p:nvSpPr>
          <p:cNvPr id="5" name="Text 3"/>
          <p:cNvSpPr/>
          <p:nvPr/>
        </p:nvSpPr>
        <p:spPr>
          <a:xfrm>
            <a:off x="603504" y="1481328"/>
            <a:ext cx="7772400" cy="841248"/>
          </a:xfrm>
          <a:prstGeom prst="rect">
            <a:avLst/>
          </a:prstGeom>
          <a:noFill/>
        </p:spPr>
        <p:txBody>
          <a:bodyPr wrap="square" lIns="0" tIns="0" rIns="0" bIns="0" rtlCol="0" anchor="ctr">
            <a:normAutofit/>
          </a:bodyPr>
          <a:lstStyle/>
          <a:p>
            <a:pPr marL="0" indent="0">
              <a:buNone/>
            </a:pPr>
            <a:r>
              <a:rPr lang="en-US" sz="4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SMART LIBRARY</a:t>
            </a:r>
            <a:endParaRPr lang="en-US" sz="4300" dirty="0"/>
          </a:p>
        </p:txBody>
      </p:sp>
      <p:sp>
        <p:nvSpPr>
          <p:cNvPr id="6" name="Shape 4"/>
          <p:cNvSpPr/>
          <p:nvPr/>
        </p:nvSpPr>
        <p:spPr>
          <a:xfrm>
            <a:off x="630936" y="2386584"/>
            <a:ext cx="1234440" cy="82296"/>
          </a:xfrm>
          <a:prstGeom prst="rect">
            <a:avLst/>
          </a:prstGeom>
          <a:solidFill>
            <a:srgbClr val="00A7D8"/>
          </a:solidFill>
          <a:ln w="12700">
            <a:solidFill>
              <a:srgbClr val="00A7D8">
                <a:alpha val="0"/>
              </a:srgbClr>
            </a:solidFill>
            <a:prstDash val="solid"/>
          </a:ln>
        </p:spPr>
      </p:sp>
      <p:sp>
        <p:nvSpPr>
          <p:cNvPr id="7" name="Text 5"/>
          <p:cNvSpPr/>
          <p:nvPr/>
        </p:nvSpPr>
        <p:spPr>
          <a:xfrm>
            <a:off x="603250" y="2593975"/>
            <a:ext cx="4578350" cy="1134110"/>
          </a:xfrm>
          <a:prstGeom prst="rect">
            <a:avLst/>
          </a:prstGeom>
          <a:noFill/>
        </p:spPr>
        <p:txBody>
          <a:bodyPr wrap="square" lIns="0" tIns="0" rIns="0" bIns="0" rtlCol="0" anchor="t">
            <a:normAutofit/>
          </a:bodyPr>
          <a:lstStyle/>
          <a:p>
            <a:pPr marL="0" indent="0" algn="l">
              <a:buNone/>
            </a:pPr>
            <a:r>
              <a:rPr lang="en-US" sz="2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ỨNG DỤNG QUẢN LÝ THƯ VIỆN</a:t>
            </a:r>
            <a:endParaRPr lang="en-US" sz="2300" dirty="0"/>
          </a:p>
          <a:p>
            <a:pPr marL="0" indent="0" algn="l">
              <a:buNone/>
            </a:pPr>
            <a:r>
              <a:rPr lang="en-US" sz="23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THÔNG MINH</a:t>
            </a:r>
            <a:endParaRPr lang="en-US" sz="2300" dirty="0"/>
          </a:p>
        </p:txBody>
      </p:sp>
      <p:sp>
        <p:nvSpPr>
          <p:cNvPr id="8" name="Text 6"/>
          <p:cNvSpPr/>
          <p:nvPr/>
        </p:nvSpPr>
        <p:spPr>
          <a:xfrm>
            <a:off x="640080" y="4105656"/>
            <a:ext cx="7132320" cy="274320"/>
          </a:xfrm>
          <a:prstGeom prst="rect">
            <a:avLst/>
          </a:prstGeom>
          <a:noFill/>
        </p:spPr>
        <p:txBody>
          <a:bodyPr wrap="square" lIns="0" tIns="0" rIns="0" bIns="0" rtlCol="0" anchor="ctr">
            <a:normAutofit/>
          </a:bodyPr>
          <a:lstStyle/>
          <a:p>
            <a:pPr marL="0" indent="0">
              <a:buNone/>
            </a:pPr>
            <a:r>
              <a:rPr lang="en-US" sz="1600" dirty="0">
                <a:solidFill>
                  <a:srgbClr val="D6E8F5"/>
                </a:solidFill>
                <a:latin typeface="Times New Roman" panose="02020603050405020304" pitchFamily="34" charset="0"/>
                <a:ea typeface="Times New Roman" panose="02020603050405020304" pitchFamily="34" charset="-122"/>
                <a:cs typeface="Times New Roman" panose="02020603050405020304" pitchFamily="34" charset="-120"/>
              </a:rPr>
              <a:t>Giảng viên hướng dẫn: ThS. Huỳnh Hoàng Hà</a:t>
            </a:r>
            <a:endParaRPr lang="en-US" sz="1600" dirty="0"/>
          </a:p>
        </p:txBody>
      </p:sp>
      <p:sp>
        <p:nvSpPr>
          <p:cNvPr id="9" name="Text 7"/>
          <p:cNvSpPr/>
          <p:nvPr/>
        </p:nvSpPr>
        <p:spPr>
          <a:xfrm>
            <a:off x="640080" y="4572000"/>
            <a:ext cx="5669280" cy="228600"/>
          </a:xfrm>
          <a:prstGeom prst="rect">
            <a:avLst/>
          </a:prstGeom>
          <a:noFill/>
        </p:spPr>
        <p:txBody>
          <a:bodyPr wrap="square" lIns="0" tIns="0" rIns="0" bIns="0" rtlCol="0" anchor="ctr">
            <a:normAutofit/>
          </a:bodyPr>
          <a:lstStyle/>
          <a:p>
            <a:pPr marL="0" indent="0">
              <a:buNone/>
            </a:pPr>
            <a:r>
              <a:rPr lang="en-US" sz="1600" b="1" dirty="0">
                <a:solidFill>
                  <a:srgbClr val="B5E8F7"/>
                </a:solidFill>
                <a:latin typeface="Times New Roman" panose="02020603050405020304" pitchFamily="34" charset="0"/>
                <a:ea typeface="Times New Roman" panose="02020603050405020304" pitchFamily="34" charset="-122"/>
                <a:cs typeface="Times New Roman" panose="02020603050405020304" pitchFamily="34" charset="-120"/>
              </a:rPr>
              <a:t>Nhóm thực hiện:</a:t>
            </a:r>
            <a:endParaRPr lang="en-US" sz="1600" dirty="0"/>
          </a:p>
        </p:txBody>
      </p:sp>
      <p:sp>
        <p:nvSpPr>
          <p:cNvPr id="10" name="Text 8"/>
          <p:cNvSpPr/>
          <p:nvPr/>
        </p:nvSpPr>
        <p:spPr>
          <a:xfrm>
            <a:off x="640080" y="4956048"/>
            <a:ext cx="7360920" cy="246888"/>
          </a:xfrm>
          <a:prstGeom prst="rect">
            <a:avLst/>
          </a:prstGeom>
          <a:noFill/>
        </p:spPr>
        <p:txBody>
          <a:bodyPr wrap="square" lIns="0" tIns="0" rIns="0" bIns="0" rtlCol="0" anchor="ctr">
            <a:normAutofit/>
          </a:bodyPr>
          <a:lstStyle/>
          <a:p>
            <a:pPr marL="0" indent="0">
              <a:buNone/>
            </a:pPr>
            <a:r>
              <a:rPr lang="en-US" sz="1420" dirty="0">
                <a:solidFill>
                  <a:srgbClr val="E2EBF4"/>
                </a:solidFill>
                <a:latin typeface="Times New Roman" panose="02020603050405020304" pitchFamily="34" charset="0"/>
                <a:ea typeface="Times New Roman" panose="02020603050405020304" pitchFamily="34" charset="-122"/>
                <a:cs typeface="Times New Roman" panose="02020603050405020304" pitchFamily="34" charset="-120"/>
              </a:rPr>
              <a:t>Trần Chí Nguyên  ·  Lê Xuân Trung  ·  Đỗ Nguyễn Thảo Trang</a:t>
            </a:r>
            <a:endParaRPr lang="en-US" sz="1420" dirty="0"/>
          </a:p>
        </p:txBody>
      </p:sp>
      <p:sp>
        <p:nvSpPr>
          <p:cNvPr id="11" name="Text 9"/>
          <p:cNvSpPr/>
          <p:nvPr/>
        </p:nvSpPr>
        <p:spPr>
          <a:xfrm>
            <a:off x="640080" y="5303520"/>
            <a:ext cx="7360920" cy="246888"/>
          </a:xfrm>
          <a:prstGeom prst="rect">
            <a:avLst/>
          </a:prstGeom>
          <a:noFill/>
        </p:spPr>
        <p:txBody>
          <a:bodyPr wrap="square" lIns="0" tIns="0" rIns="0" bIns="0" rtlCol="0" anchor="ctr">
            <a:normAutofit/>
          </a:bodyPr>
          <a:lstStyle/>
          <a:p>
            <a:pPr marL="0" indent="0">
              <a:buNone/>
            </a:pPr>
            <a:r>
              <a:rPr lang="en-US" sz="1420" dirty="0">
                <a:solidFill>
                  <a:srgbClr val="E2EBF4"/>
                </a:solidFill>
                <a:latin typeface="Times New Roman" panose="02020603050405020304" pitchFamily="34" charset="0"/>
                <a:ea typeface="Times New Roman" panose="02020603050405020304" pitchFamily="34" charset="-122"/>
                <a:cs typeface="Times New Roman" panose="02020603050405020304" pitchFamily="34" charset="-120"/>
              </a:rPr>
              <a:t>Phan Hoàng Trí  ·  Nguyễn Viết Nam  ·  Trần Ngọc Minh</a:t>
            </a:r>
            <a:endParaRPr lang="en-US" sz="1420" dirty="0"/>
          </a:p>
        </p:txBody>
      </p:sp>
      <p:sp>
        <p:nvSpPr>
          <p:cNvPr id="12" name="Text 10"/>
          <p:cNvSpPr/>
          <p:nvPr/>
        </p:nvSpPr>
        <p:spPr>
          <a:xfrm>
            <a:off x="640080" y="6227064"/>
            <a:ext cx="6858000" cy="246888"/>
          </a:xfrm>
          <a:prstGeom prst="rect">
            <a:avLst/>
          </a:prstGeom>
          <a:noFill/>
        </p:spPr>
        <p:txBody>
          <a:bodyPr wrap="square" lIns="0" tIns="0" rIns="0" bIns="0" rtlCol="0" anchor="ctr">
            <a:normAutofit/>
          </a:bodyPr>
          <a:lstStyle/>
          <a:p>
            <a:pPr marL="0" indent="0">
              <a:buNone/>
            </a:pPr>
            <a:r>
              <a:rPr lang="en-US" sz="1300" dirty="0">
                <a:solidFill>
                  <a:srgbClr val="C0DAEA"/>
                </a:solidFill>
                <a:latin typeface="Times New Roman" panose="02020603050405020304" pitchFamily="34" charset="0"/>
                <a:ea typeface="Times New Roman" panose="02020603050405020304" pitchFamily="34" charset="-122"/>
                <a:cs typeface="Times New Roman" panose="02020603050405020304" pitchFamily="34" charset="-120"/>
              </a:rPr>
              <a:t>TP. Hồ Chí Minh, năm 2026</a:t>
            </a:r>
            <a:endParaRPr lang="en-US" sz="1300" dirty="0"/>
          </a:p>
        </p:txBody>
      </p:sp>
      <p:pic>
        <p:nvPicPr>
          <p:cNvPr id="14" name="Image 0" descr="/mnt/data/smart_work/figures/image12.png"/>
          <p:cNvPicPr>
            <a:picLocks noChangeAspect="1"/>
          </p:cNvPicPr>
          <p:nvPr/>
        </p:nvPicPr>
        <p:blipFill>
          <a:blip r:embed="rId1"/>
          <a:stretch>
            <a:fillRect/>
          </a:stretch>
        </p:blipFill>
        <p:spPr>
          <a:xfrm>
            <a:off x="7498080" y="182880"/>
            <a:ext cx="3210560" cy="6500495"/>
          </a:xfrm>
          <a:prstGeom prst="rect">
            <a:avLst/>
          </a:prstGeom>
        </p:spPr>
      </p:pic>
      <p:pic>
        <p:nvPicPr>
          <p:cNvPr id="15" name="Image 1" descr="/mnt/data/smart_work/source/SmartLibrary-main/assets/images/hcmute_logo.png"/>
          <p:cNvPicPr>
            <a:picLocks noChangeAspect="1"/>
          </p:cNvPicPr>
          <p:nvPr/>
        </p:nvPicPr>
        <p:blipFill>
          <a:blip r:embed="rId2"/>
          <a:stretch>
            <a:fillRect/>
          </a:stretch>
        </p:blipFill>
        <p:spPr>
          <a:xfrm>
            <a:off x="11468803" y="155575"/>
            <a:ext cx="581016" cy="7040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Shape 0"/>
          <p:cNvSpPr/>
          <p:nvPr/>
        </p:nvSpPr>
        <p:spPr>
          <a:xfrm>
            <a:off x="0" y="0"/>
            <a:ext cx="12191997" cy="100584"/>
          </a:xfrm>
          <a:prstGeom prst="rect">
            <a:avLst/>
          </a:prstGeom>
          <a:solidFill>
            <a:srgbClr val="1D5EA5"/>
          </a:solidFill>
          <a:ln w="12700">
            <a:solidFill>
              <a:srgbClr val="1D5EA5">
                <a:alpha val="0"/>
              </a:srgbClr>
            </a:solidFill>
            <a:prstDash val="solid"/>
          </a:ln>
        </p:spPr>
      </p:sp>
      <p:sp>
        <p:nvSpPr>
          <p:cNvPr id="3" name="Text 1"/>
          <p:cNvSpPr/>
          <p:nvPr/>
        </p:nvSpPr>
        <p:spPr>
          <a:xfrm>
            <a:off x="658368" y="310896"/>
            <a:ext cx="960120" cy="219456"/>
          </a:xfrm>
          <a:prstGeom prst="rect">
            <a:avLst/>
          </a:prstGeom>
          <a:noFill/>
        </p:spPr>
        <p:txBody>
          <a:bodyPr wrap="square" lIns="0" tIns="0" rIns="0" bIns="0" rtlCol="0" anchor="ctr">
            <a:normAutofit/>
          </a:bodyPr>
          <a:lstStyle/>
          <a:p>
            <a:pPr marL="0" indent="0">
              <a:buNone/>
            </a:pPr>
            <a:r>
              <a:rPr lang="en-US" sz="120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02 / 10</a:t>
            </a:r>
            <a:endParaRPr lang="en-US" sz="1200" dirty="0"/>
          </a:p>
        </p:txBody>
      </p:sp>
      <p:sp>
        <p:nvSpPr>
          <p:cNvPr id="4" name="Text 2"/>
          <p:cNvSpPr/>
          <p:nvPr/>
        </p:nvSpPr>
        <p:spPr>
          <a:xfrm>
            <a:off x="658368" y="649224"/>
            <a:ext cx="10927080" cy="484632"/>
          </a:xfrm>
          <a:prstGeom prst="rect">
            <a:avLst/>
          </a:prstGeom>
          <a:noFill/>
        </p:spPr>
        <p:txBody>
          <a:bodyPr wrap="square" lIns="0" tIns="0" rIns="0" bIns="0" rtlCol="0" anchor="ctr">
            <a:normAutofit/>
          </a:bodyPr>
          <a:lstStyle/>
          <a:p>
            <a:pPr marL="0" indent="0">
              <a:buNone/>
            </a:pPr>
            <a:r>
              <a:rPr lang="en-US" sz="2900" b="1" dirty="0">
                <a:solidFill>
                  <a:srgbClr val="132C4D"/>
                </a:solidFill>
                <a:latin typeface="Times New Roman" panose="02020603050405020304" pitchFamily="34" charset="0"/>
                <a:ea typeface="Times New Roman" panose="02020603050405020304" pitchFamily="34" charset="-122"/>
                <a:cs typeface="Times New Roman" panose="02020603050405020304" pitchFamily="34" charset="-120"/>
              </a:rPr>
              <a:t>BỐI CẢNH, MỤC TIÊU VÀ PHẠM VI</a:t>
            </a:r>
            <a:endParaRPr lang="en-US" sz="2900" dirty="0"/>
          </a:p>
        </p:txBody>
      </p:sp>
      <p:sp>
        <p:nvSpPr>
          <p:cNvPr id="5" name="Text 3"/>
          <p:cNvSpPr/>
          <p:nvPr/>
        </p:nvSpPr>
        <p:spPr>
          <a:xfrm>
            <a:off x="667512" y="1207008"/>
            <a:ext cx="10835640" cy="338328"/>
          </a:xfrm>
          <a:prstGeom prst="rect">
            <a:avLst/>
          </a:prstGeom>
          <a:noFill/>
        </p:spPr>
        <p:txBody>
          <a:bodyPr wrap="square" lIns="0" tIns="0" rIns="0" bIns="0" rtlCol="0" anchor="ctr">
            <a:normAutofit/>
          </a:bodyPr>
          <a:lstStyle/>
          <a:p>
            <a:pPr marL="0" indent="0">
              <a:buNone/>
            </a:pPr>
            <a:r>
              <a:rPr lang="en-US" sz="1450" i="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Lý do xây dựng Smart Library và bài toán được giải quyết bằng ứng dụng di động.</a:t>
            </a:r>
            <a:endParaRPr lang="en-US" sz="1450" dirty="0"/>
          </a:p>
        </p:txBody>
      </p:sp>
      <p:sp>
        <p:nvSpPr>
          <p:cNvPr id="6" name="Shape 4"/>
          <p:cNvSpPr/>
          <p:nvPr/>
        </p:nvSpPr>
        <p:spPr>
          <a:xfrm>
            <a:off x="649224" y="1664208"/>
            <a:ext cx="10890504" cy="0"/>
          </a:xfrm>
          <a:prstGeom prst="line">
            <a:avLst/>
          </a:prstGeom>
          <a:noFill/>
          <a:ln w="13970">
            <a:solidFill>
              <a:srgbClr val="D7E3EE"/>
            </a:solidFill>
            <a:prstDash val="solid"/>
          </a:ln>
        </p:spPr>
      </p:sp>
      <p:sp>
        <p:nvSpPr>
          <p:cNvPr id="7" name="Shape 5"/>
          <p:cNvSpPr/>
          <p:nvPr/>
        </p:nvSpPr>
        <p:spPr>
          <a:xfrm>
            <a:off x="713232" y="1865376"/>
            <a:ext cx="1453896" cy="310896"/>
          </a:xfrm>
          <a:prstGeom prst="roundRect">
            <a:avLst>
              <a:gd name="adj" fmla="val 35294"/>
            </a:avLst>
          </a:prstGeom>
          <a:solidFill>
            <a:srgbClr val="EAF3FA"/>
          </a:solidFill>
          <a:ln w="10795">
            <a:solidFill>
              <a:srgbClr val="EAF3FA"/>
            </a:solidFill>
            <a:prstDash val="solid"/>
          </a:ln>
        </p:spPr>
      </p:sp>
      <p:sp>
        <p:nvSpPr>
          <p:cNvPr id="8" name="Text 6"/>
          <p:cNvSpPr/>
          <p:nvPr/>
        </p:nvSpPr>
        <p:spPr>
          <a:xfrm>
            <a:off x="768096" y="1874520"/>
            <a:ext cx="1344168" cy="265176"/>
          </a:xfrm>
          <a:prstGeom prst="rect">
            <a:avLst/>
          </a:prstGeom>
          <a:noFill/>
        </p:spPr>
        <p:txBody>
          <a:bodyPr wrap="square" lIns="0" tIns="0" rIns="0" bIns="0" rtlCol="0" anchor="ctr">
            <a:normAutofit/>
          </a:bodyPr>
          <a:lstStyle/>
          <a:p>
            <a:pPr marL="0" indent="0" algn="ctr">
              <a:buNone/>
            </a:pPr>
            <a:r>
              <a:rPr lang="en-US" sz="114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THỰC TRẠNG</a:t>
            </a:r>
            <a:endParaRPr lang="en-US" sz="1140" dirty="0"/>
          </a:p>
        </p:txBody>
      </p:sp>
      <p:sp>
        <p:nvSpPr>
          <p:cNvPr id="9" name="Shape 7"/>
          <p:cNvSpPr/>
          <p:nvPr/>
        </p:nvSpPr>
        <p:spPr>
          <a:xfrm>
            <a:off x="713232" y="3794760"/>
            <a:ext cx="2459736" cy="310896"/>
          </a:xfrm>
          <a:prstGeom prst="roundRect">
            <a:avLst>
              <a:gd name="adj" fmla="val 35294"/>
            </a:avLst>
          </a:prstGeom>
          <a:solidFill>
            <a:srgbClr val="EAF3FA"/>
          </a:solidFill>
          <a:ln w="10795">
            <a:solidFill>
              <a:srgbClr val="EAF3FA"/>
            </a:solidFill>
            <a:prstDash val="solid"/>
          </a:ln>
        </p:spPr>
      </p:sp>
      <p:sp>
        <p:nvSpPr>
          <p:cNvPr id="10" name="Text 8"/>
          <p:cNvSpPr/>
          <p:nvPr/>
        </p:nvSpPr>
        <p:spPr>
          <a:xfrm>
            <a:off x="768096" y="3803904"/>
            <a:ext cx="2350008" cy="265176"/>
          </a:xfrm>
          <a:prstGeom prst="rect">
            <a:avLst/>
          </a:prstGeom>
          <a:noFill/>
        </p:spPr>
        <p:txBody>
          <a:bodyPr wrap="square" lIns="0" tIns="0" rIns="0" bIns="0" rtlCol="0" anchor="ctr">
            <a:normAutofit/>
          </a:bodyPr>
          <a:lstStyle/>
          <a:p>
            <a:pPr marL="0" indent="0" algn="ctr">
              <a:buNone/>
            </a:pPr>
            <a:r>
              <a:rPr lang="en-US" sz="114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MỤC TIÊU TRIỂN KHAI</a:t>
            </a:r>
            <a:endParaRPr lang="en-US" sz="1140" dirty="0"/>
          </a:p>
        </p:txBody>
      </p:sp>
      <p:sp>
        <p:nvSpPr>
          <p:cNvPr id="11" name="Shape 9"/>
          <p:cNvSpPr/>
          <p:nvPr/>
        </p:nvSpPr>
        <p:spPr>
          <a:xfrm>
            <a:off x="713232" y="2386584"/>
            <a:ext cx="68580" cy="310896"/>
          </a:xfrm>
          <a:prstGeom prst="rect">
            <a:avLst/>
          </a:prstGeom>
          <a:solidFill>
            <a:srgbClr val="1D5EA5"/>
          </a:solidFill>
          <a:ln w="12700">
            <a:solidFill>
              <a:srgbClr val="1D5EA5">
                <a:alpha val="0"/>
              </a:srgbClr>
            </a:solidFill>
            <a:prstDash val="solid"/>
          </a:ln>
        </p:spPr>
      </p:sp>
      <p:sp>
        <p:nvSpPr>
          <p:cNvPr id="12" name="Text 10"/>
          <p:cNvSpPr/>
          <p:nvPr/>
        </p:nvSpPr>
        <p:spPr>
          <a:xfrm>
            <a:off x="868680" y="2331720"/>
            <a:ext cx="7077456" cy="274320"/>
          </a:xfrm>
          <a:prstGeom prst="rect">
            <a:avLst/>
          </a:prstGeom>
          <a:noFill/>
        </p:spPr>
        <p:txBody>
          <a:bodyPr wrap="square" lIns="0" tIns="0" rIns="0" bIns="0" rtlCol="0" anchor="ctr">
            <a:normAutofit/>
          </a:bodyPr>
          <a:lstStyle/>
          <a:p>
            <a:pPr marL="0" indent="0">
              <a:buNone/>
            </a:pPr>
            <a:r>
              <a:rPr lang="en-US" sz="17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Tra cứu thông tin chưa thuận tiện</a:t>
            </a:r>
            <a:endParaRPr lang="en-US" sz="1700" dirty="0"/>
          </a:p>
        </p:txBody>
      </p:sp>
      <p:sp>
        <p:nvSpPr>
          <p:cNvPr id="13" name="Text 11"/>
          <p:cNvSpPr/>
          <p:nvPr/>
        </p:nvSpPr>
        <p:spPr>
          <a:xfrm>
            <a:off x="877824" y="2679192"/>
            <a:ext cx="7031736" cy="393192"/>
          </a:xfrm>
          <a:prstGeom prst="rect">
            <a:avLst/>
          </a:prstGeom>
          <a:noFill/>
        </p:spPr>
        <p:txBody>
          <a:bodyPr wrap="square" lIns="0" tIns="0" rIns="0" bIns="0" rtlCol="0" anchor="t">
            <a:normAutofit/>
          </a:bodyPr>
          <a:lstStyle/>
          <a:p>
            <a:pPr marL="0" indent="0">
              <a:buNone/>
            </a:pPr>
            <a:r>
              <a:rPr lang="en-US" sz="158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Độc giả mất thời gian tìm sách, kiểm tra số lượng và vị trí tài liệu.</a:t>
            </a:r>
            <a:endParaRPr lang="en-US" sz="1580" dirty="0"/>
          </a:p>
        </p:txBody>
      </p:sp>
      <p:sp>
        <p:nvSpPr>
          <p:cNvPr id="14" name="Shape 12"/>
          <p:cNvSpPr/>
          <p:nvPr/>
        </p:nvSpPr>
        <p:spPr>
          <a:xfrm>
            <a:off x="713232" y="3072384"/>
            <a:ext cx="68580" cy="310896"/>
          </a:xfrm>
          <a:prstGeom prst="rect">
            <a:avLst/>
          </a:prstGeom>
          <a:solidFill>
            <a:srgbClr val="1D5EA5"/>
          </a:solidFill>
          <a:ln w="12700">
            <a:solidFill>
              <a:srgbClr val="1D5EA5">
                <a:alpha val="0"/>
              </a:srgbClr>
            </a:solidFill>
            <a:prstDash val="solid"/>
          </a:ln>
        </p:spPr>
      </p:sp>
      <p:sp>
        <p:nvSpPr>
          <p:cNvPr id="15" name="Text 13"/>
          <p:cNvSpPr/>
          <p:nvPr/>
        </p:nvSpPr>
        <p:spPr>
          <a:xfrm>
            <a:off x="868680" y="3017520"/>
            <a:ext cx="7077456" cy="274320"/>
          </a:xfrm>
          <a:prstGeom prst="rect">
            <a:avLst/>
          </a:prstGeom>
          <a:noFill/>
        </p:spPr>
        <p:txBody>
          <a:bodyPr wrap="square" lIns="0" tIns="0" rIns="0" bIns="0" rtlCol="0" anchor="ctr">
            <a:normAutofit/>
          </a:bodyPr>
          <a:lstStyle/>
          <a:p>
            <a:pPr marL="0" indent="0">
              <a:buNone/>
            </a:pPr>
            <a:r>
              <a:rPr lang="en-US" sz="17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Mượn/trả và quản lý nhiều đầu việc</a:t>
            </a:r>
            <a:endParaRPr lang="en-US" sz="1700" dirty="0"/>
          </a:p>
        </p:txBody>
      </p:sp>
      <p:sp>
        <p:nvSpPr>
          <p:cNvPr id="16" name="Text 14"/>
          <p:cNvSpPr/>
          <p:nvPr/>
        </p:nvSpPr>
        <p:spPr>
          <a:xfrm>
            <a:off x="877824" y="3364992"/>
            <a:ext cx="7031736" cy="393192"/>
          </a:xfrm>
          <a:prstGeom prst="rect">
            <a:avLst/>
          </a:prstGeom>
          <a:noFill/>
        </p:spPr>
        <p:txBody>
          <a:bodyPr wrap="square" lIns="0" tIns="0" rIns="0" bIns="0" rtlCol="0" anchor="t">
            <a:normAutofit/>
          </a:bodyPr>
          <a:lstStyle/>
          <a:p>
            <a:pPr marL="0" indent="0">
              <a:buNone/>
            </a:pPr>
            <a:r>
              <a:rPr lang="en-US" sz="158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Quản thư phải đối chiếu thông tin tài khoản, tồn kho, lịch sử và sách quá hạn.</a:t>
            </a:r>
            <a:endParaRPr lang="en-US" sz="1580" dirty="0"/>
          </a:p>
        </p:txBody>
      </p:sp>
      <p:sp>
        <p:nvSpPr>
          <p:cNvPr id="17" name="Shape 15"/>
          <p:cNvSpPr/>
          <p:nvPr/>
        </p:nvSpPr>
        <p:spPr>
          <a:xfrm>
            <a:off x="713232" y="4297680"/>
            <a:ext cx="68580" cy="310896"/>
          </a:xfrm>
          <a:prstGeom prst="rect">
            <a:avLst/>
          </a:prstGeom>
          <a:solidFill>
            <a:srgbClr val="168A79"/>
          </a:solidFill>
          <a:ln w="12700">
            <a:solidFill>
              <a:srgbClr val="168A79">
                <a:alpha val="0"/>
              </a:srgbClr>
            </a:solidFill>
            <a:prstDash val="solid"/>
          </a:ln>
        </p:spPr>
      </p:sp>
      <p:sp>
        <p:nvSpPr>
          <p:cNvPr id="18" name="Text 16"/>
          <p:cNvSpPr/>
          <p:nvPr/>
        </p:nvSpPr>
        <p:spPr>
          <a:xfrm>
            <a:off x="868680" y="4242816"/>
            <a:ext cx="7104888" cy="274320"/>
          </a:xfrm>
          <a:prstGeom prst="rect">
            <a:avLst/>
          </a:prstGeom>
          <a:noFill/>
        </p:spPr>
        <p:txBody>
          <a:bodyPr wrap="square" lIns="0" tIns="0" rIns="0" bIns="0" rtlCol="0" anchor="ctr">
            <a:normAutofit/>
          </a:bodyPr>
          <a:lstStyle/>
          <a:p>
            <a:pPr marL="0" indent="0">
              <a:buNone/>
            </a:pPr>
            <a:r>
              <a:rPr lang="en-US" sz="17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Ứng dụng tập trung trên điện thoại</a:t>
            </a:r>
            <a:endParaRPr lang="en-US" sz="1700" dirty="0"/>
          </a:p>
        </p:txBody>
      </p:sp>
      <p:sp>
        <p:nvSpPr>
          <p:cNvPr id="19" name="Text 17"/>
          <p:cNvSpPr/>
          <p:nvPr/>
        </p:nvSpPr>
        <p:spPr>
          <a:xfrm>
            <a:off x="877824" y="4590288"/>
            <a:ext cx="7059168" cy="393192"/>
          </a:xfrm>
          <a:prstGeom prst="rect">
            <a:avLst/>
          </a:prstGeom>
          <a:noFill/>
        </p:spPr>
        <p:txBody>
          <a:bodyPr wrap="square" lIns="0" tIns="0" rIns="0" bIns="0" rtlCol="0" anchor="t">
            <a:normAutofit/>
          </a:bodyPr>
          <a:lstStyle/>
          <a:p>
            <a:pPr marL="0" indent="0">
              <a:buNone/>
            </a:pPr>
            <a:r>
              <a:rPr lang="en-US" sz="158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Đăng nhập theo vai trò, tìm kiếm sách, mượn/trả, quét mã và xem lịch sử.</a:t>
            </a:r>
            <a:endParaRPr lang="en-US" sz="1580" dirty="0"/>
          </a:p>
        </p:txBody>
      </p:sp>
      <p:sp>
        <p:nvSpPr>
          <p:cNvPr id="20" name="Shape 18"/>
          <p:cNvSpPr/>
          <p:nvPr/>
        </p:nvSpPr>
        <p:spPr>
          <a:xfrm>
            <a:off x="713232" y="5020056"/>
            <a:ext cx="68580" cy="310896"/>
          </a:xfrm>
          <a:prstGeom prst="rect">
            <a:avLst/>
          </a:prstGeom>
          <a:solidFill>
            <a:srgbClr val="168A79"/>
          </a:solidFill>
          <a:ln w="12700">
            <a:solidFill>
              <a:srgbClr val="168A79">
                <a:alpha val="0"/>
              </a:srgbClr>
            </a:solidFill>
            <a:prstDash val="solid"/>
          </a:ln>
        </p:spPr>
      </p:sp>
      <p:sp>
        <p:nvSpPr>
          <p:cNvPr id="21" name="Text 19"/>
          <p:cNvSpPr/>
          <p:nvPr/>
        </p:nvSpPr>
        <p:spPr>
          <a:xfrm>
            <a:off x="868680" y="4965192"/>
            <a:ext cx="7077456" cy="274320"/>
          </a:xfrm>
          <a:prstGeom prst="rect">
            <a:avLst/>
          </a:prstGeom>
          <a:noFill/>
        </p:spPr>
        <p:txBody>
          <a:bodyPr wrap="square" lIns="0" tIns="0" rIns="0" bIns="0" rtlCol="0" anchor="ctr">
            <a:normAutofit/>
          </a:bodyPr>
          <a:lstStyle/>
          <a:p>
            <a:pPr marL="0" indent="0">
              <a:buNone/>
            </a:pPr>
            <a:r>
              <a:rPr lang="en-US" sz="17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Dữ liệu được chia sẻ giữa các màn hình</a:t>
            </a:r>
            <a:endParaRPr lang="en-US" sz="1700" dirty="0"/>
          </a:p>
        </p:txBody>
      </p:sp>
      <p:sp>
        <p:nvSpPr>
          <p:cNvPr id="22" name="Text 20"/>
          <p:cNvSpPr/>
          <p:nvPr/>
        </p:nvSpPr>
        <p:spPr>
          <a:xfrm>
            <a:off x="877824" y="5312664"/>
            <a:ext cx="7031736" cy="402336"/>
          </a:xfrm>
          <a:prstGeom prst="rect">
            <a:avLst/>
          </a:prstGeom>
          <a:noFill/>
        </p:spPr>
        <p:txBody>
          <a:bodyPr wrap="square" lIns="0" tIns="0" rIns="0" bIns="0" rtlCol="0" anchor="t">
            <a:normAutofit/>
          </a:bodyPr>
          <a:lstStyle/>
          <a:p>
            <a:pPr marL="0" indent="0">
              <a:buNone/>
            </a:pPr>
            <a:r>
              <a:rPr lang="en-US" sz="158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Kết nối Firebase giúp cập nhật danh mục, người dùng và bản ghi giao dịch.</a:t>
            </a:r>
            <a:endParaRPr lang="en-US" sz="1580" dirty="0"/>
          </a:p>
        </p:txBody>
      </p:sp>
      <p:pic>
        <p:nvPicPr>
          <p:cNvPr id="26" name="Image 0" descr="/mnt/data/smart_work/figures/image12.png"/>
          <p:cNvPicPr>
            <a:picLocks noChangeAspect="1"/>
          </p:cNvPicPr>
          <p:nvPr/>
        </p:nvPicPr>
        <p:blipFill>
          <a:blip r:embed="rId1"/>
          <a:stretch>
            <a:fillRect/>
          </a:stretch>
        </p:blipFill>
        <p:spPr>
          <a:xfrm>
            <a:off x="8357870" y="265430"/>
            <a:ext cx="3039110" cy="6153150"/>
          </a:xfrm>
          <a:prstGeom prst="rect">
            <a:avLst/>
          </a:prstGeom>
        </p:spPr>
      </p:pic>
      <p:sp>
        <p:nvSpPr>
          <p:cNvPr id="27" name="Text 24"/>
          <p:cNvSpPr/>
          <p:nvPr/>
        </p:nvSpPr>
        <p:spPr>
          <a:xfrm>
            <a:off x="8357616" y="6519672"/>
            <a:ext cx="3054096" cy="182880"/>
          </a:xfrm>
          <a:prstGeom prst="rect">
            <a:avLst/>
          </a:prstGeom>
          <a:noFill/>
        </p:spPr>
        <p:txBody>
          <a:bodyPr wrap="square" lIns="0" tIns="0" rIns="0" bIns="0" rtlCol="0" anchor="ctr">
            <a:normAutofit/>
          </a:bodyPr>
          <a:lstStyle/>
          <a:p>
            <a:pPr marL="0" indent="0" algn="ctr">
              <a:buNone/>
            </a:pPr>
            <a:r>
              <a:rPr lang="en-US" sz="1150" b="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Giao diện trang chủ độc giả</a:t>
            </a:r>
            <a:endParaRPr lang="en-US" sz="1150" dirty="0"/>
          </a:p>
        </p:txBody>
      </p:sp>
      <p:sp>
        <p:nvSpPr>
          <p:cNvPr id="28" name="Shape 25"/>
          <p:cNvSpPr/>
          <p:nvPr/>
        </p:nvSpPr>
        <p:spPr>
          <a:xfrm>
            <a:off x="667512" y="6473952"/>
            <a:ext cx="10835640" cy="0"/>
          </a:xfrm>
          <a:prstGeom prst="line">
            <a:avLst/>
          </a:prstGeom>
          <a:noFill/>
          <a:ln w="10160">
            <a:solidFill>
              <a:srgbClr val="D7E3EE"/>
            </a:solidFill>
            <a:prstDash val="solid"/>
          </a:ln>
        </p:spPr>
      </p:sp>
      <p:sp>
        <p:nvSpPr>
          <p:cNvPr id="29" name="Text 26"/>
          <p:cNvSpPr/>
          <p:nvPr/>
        </p:nvSpPr>
        <p:spPr>
          <a:xfrm>
            <a:off x="704088" y="6556248"/>
            <a:ext cx="9747504" cy="146304"/>
          </a:xfrm>
          <a:prstGeom prst="rect">
            <a:avLst/>
          </a:prstGeom>
          <a:noFill/>
        </p:spPr>
        <p:txBody>
          <a:bodyPr wrap="square" lIns="0" tIns="0" rIns="0" bIns="0" rtlCol="0" anchor="ctr">
            <a:normAutofit/>
          </a:bodyPr>
          <a:lstStyle/>
          <a:p>
            <a:pPr marL="0" indent="0">
              <a:buNone/>
            </a:pPr>
            <a:r>
              <a:rPr lang="en-US" sz="9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SMART LIBRARY  |  BÁO CÁO ĐỒ ÁN PHÁT TRIỂN ỨNG DỤNG DI ĐỘNG</a:t>
            </a:r>
            <a:endParaRPr lang="en-US" sz="950" dirty="0"/>
          </a:p>
        </p:txBody>
      </p:sp>
      <p:sp>
        <p:nvSpPr>
          <p:cNvPr id="30" name="Text 27"/>
          <p:cNvSpPr/>
          <p:nvPr/>
        </p:nvSpPr>
        <p:spPr>
          <a:xfrm>
            <a:off x="10753344" y="6528816"/>
            <a:ext cx="685800" cy="182880"/>
          </a:xfrm>
          <a:prstGeom prst="rect">
            <a:avLst/>
          </a:prstGeom>
          <a:noFill/>
        </p:spPr>
        <p:txBody>
          <a:bodyPr wrap="square" lIns="0" tIns="0" rIns="0" bIns="0" rtlCol="0" anchor="ctr">
            <a:normAutofit/>
          </a:bodyPr>
          <a:lstStyle/>
          <a:p>
            <a:pPr marL="0" indent="0" algn="r">
              <a:buNone/>
            </a:pPr>
            <a:r>
              <a:rPr lang="en-US" sz="105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2 / 10</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Shape 0"/>
          <p:cNvSpPr/>
          <p:nvPr/>
        </p:nvSpPr>
        <p:spPr>
          <a:xfrm>
            <a:off x="0" y="0"/>
            <a:ext cx="12191997" cy="100584"/>
          </a:xfrm>
          <a:prstGeom prst="rect">
            <a:avLst/>
          </a:prstGeom>
          <a:solidFill>
            <a:srgbClr val="1D5EA5"/>
          </a:solidFill>
          <a:ln w="12700">
            <a:solidFill>
              <a:srgbClr val="1D5EA5">
                <a:alpha val="0"/>
              </a:srgbClr>
            </a:solidFill>
            <a:prstDash val="solid"/>
          </a:ln>
        </p:spPr>
      </p:sp>
      <p:sp>
        <p:nvSpPr>
          <p:cNvPr id="3" name="Text 1"/>
          <p:cNvSpPr/>
          <p:nvPr/>
        </p:nvSpPr>
        <p:spPr>
          <a:xfrm>
            <a:off x="658368" y="310896"/>
            <a:ext cx="960120" cy="219456"/>
          </a:xfrm>
          <a:prstGeom prst="rect">
            <a:avLst/>
          </a:prstGeom>
          <a:noFill/>
        </p:spPr>
        <p:txBody>
          <a:bodyPr wrap="square" lIns="0" tIns="0" rIns="0" bIns="0" rtlCol="0" anchor="ctr">
            <a:normAutofit/>
          </a:bodyPr>
          <a:lstStyle/>
          <a:p>
            <a:pPr marL="0" indent="0">
              <a:buNone/>
            </a:pPr>
            <a:r>
              <a:rPr lang="en-US" sz="120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03 / 10</a:t>
            </a:r>
            <a:endParaRPr lang="en-US" sz="1200" dirty="0"/>
          </a:p>
        </p:txBody>
      </p:sp>
      <p:sp>
        <p:nvSpPr>
          <p:cNvPr id="4" name="Text 2"/>
          <p:cNvSpPr/>
          <p:nvPr/>
        </p:nvSpPr>
        <p:spPr>
          <a:xfrm>
            <a:off x="658368" y="649224"/>
            <a:ext cx="10927080" cy="484632"/>
          </a:xfrm>
          <a:prstGeom prst="rect">
            <a:avLst/>
          </a:prstGeom>
          <a:noFill/>
        </p:spPr>
        <p:txBody>
          <a:bodyPr wrap="square" lIns="0" tIns="0" rIns="0" bIns="0" rtlCol="0" anchor="ctr">
            <a:normAutofit/>
          </a:bodyPr>
          <a:lstStyle/>
          <a:p>
            <a:pPr marL="0" indent="0">
              <a:buNone/>
            </a:pPr>
            <a:r>
              <a:rPr lang="en-US" sz="2900" b="1" dirty="0">
                <a:solidFill>
                  <a:srgbClr val="132C4D"/>
                </a:solidFill>
                <a:latin typeface="Times New Roman" panose="02020603050405020304" pitchFamily="34" charset="0"/>
                <a:ea typeface="Times New Roman" panose="02020603050405020304" pitchFamily="34" charset="-122"/>
                <a:cs typeface="Times New Roman" panose="02020603050405020304" pitchFamily="34" charset="-120"/>
              </a:rPr>
              <a:t>CÔNG NGHỆ SỬ DỤNG TRONG SOURCE CODE</a:t>
            </a:r>
            <a:endParaRPr lang="en-US" sz="2900" dirty="0"/>
          </a:p>
        </p:txBody>
      </p:sp>
      <p:sp>
        <p:nvSpPr>
          <p:cNvPr id="6" name="Shape 4"/>
          <p:cNvSpPr/>
          <p:nvPr/>
        </p:nvSpPr>
        <p:spPr>
          <a:xfrm>
            <a:off x="649224" y="1664208"/>
            <a:ext cx="10890504" cy="0"/>
          </a:xfrm>
          <a:prstGeom prst="line">
            <a:avLst/>
          </a:prstGeom>
          <a:noFill/>
          <a:ln w="13970">
            <a:solidFill>
              <a:srgbClr val="D7E3EE"/>
            </a:solidFill>
            <a:prstDash val="solid"/>
          </a:ln>
        </p:spPr>
      </p:sp>
      <p:sp>
        <p:nvSpPr>
          <p:cNvPr id="7" name="Shape 5"/>
          <p:cNvSpPr/>
          <p:nvPr/>
        </p:nvSpPr>
        <p:spPr>
          <a:xfrm>
            <a:off x="704088" y="1865376"/>
            <a:ext cx="5266944" cy="1170432"/>
          </a:xfrm>
          <a:prstGeom prst="roundRect">
            <a:avLst>
              <a:gd name="adj" fmla="val 9375"/>
            </a:avLst>
          </a:prstGeom>
          <a:solidFill>
            <a:srgbClr val="FFFFFF"/>
          </a:solidFill>
          <a:ln w="10795">
            <a:solidFill>
              <a:srgbClr val="D7E3EE"/>
            </a:solidFill>
            <a:prstDash val="solid"/>
          </a:ln>
        </p:spPr>
      </p:sp>
      <p:sp>
        <p:nvSpPr>
          <p:cNvPr id="8" name="Shape 6"/>
          <p:cNvSpPr/>
          <p:nvPr/>
        </p:nvSpPr>
        <p:spPr>
          <a:xfrm>
            <a:off x="886968" y="2048256"/>
            <a:ext cx="393192" cy="393192"/>
          </a:xfrm>
          <a:prstGeom prst="ellipse">
            <a:avLst/>
          </a:prstGeom>
          <a:solidFill>
            <a:srgbClr val="1D5EA5"/>
          </a:solidFill>
          <a:ln w="12700">
            <a:solidFill>
              <a:srgbClr val="1D5EA5">
                <a:alpha val="0"/>
              </a:srgbClr>
            </a:solidFill>
            <a:prstDash val="solid"/>
          </a:ln>
        </p:spPr>
      </p:sp>
      <p:sp>
        <p:nvSpPr>
          <p:cNvPr id="9" name="Text 7"/>
          <p:cNvSpPr/>
          <p:nvPr/>
        </p:nvSpPr>
        <p:spPr>
          <a:xfrm>
            <a:off x="886968" y="2048256"/>
            <a:ext cx="393192" cy="393192"/>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01</a:t>
            </a:r>
            <a:endParaRPr lang="en-US" sz="1200" dirty="0"/>
          </a:p>
        </p:txBody>
      </p:sp>
      <p:sp>
        <p:nvSpPr>
          <p:cNvPr id="10" name="Text 8"/>
          <p:cNvSpPr/>
          <p:nvPr/>
        </p:nvSpPr>
        <p:spPr>
          <a:xfrm>
            <a:off x="1408176" y="2029968"/>
            <a:ext cx="4224528" cy="274320"/>
          </a:xfrm>
          <a:prstGeom prst="rect">
            <a:avLst/>
          </a:prstGeom>
          <a:noFill/>
        </p:spPr>
        <p:txBody>
          <a:bodyPr wrap="square" lIns="0" tIns="0" rIns="0" bIns="0" rtlCol="0" anchor="ctr">
            <a:normAutofit/>
          </a:bodyPr>
          <a:lstStyle/>
          <a:p>
            <a:pPr marL="0" indent="0">
              <a:buNone/>
            </a:pPr>
            <a:r>
              <a:rPr lang="en-US" sz="17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REACT NATIVE + EXPO</a:t>
            </a:r>
            <a:endParaRPr lang="en-US" sz="1700" dirty="0"/>
          </a:p>
        </p:txBody>
      </p:sp>
      <p:sp>
        <p:nvSpPr>
          <p:cNvPr id="11" name="Text 9"/>
          <p:cNvSpPr/>
          <p:nvPr/>
        </p:nvSpPr>
        <p:spPr>
          <a:xfrm>
            <a:off x="1408176" y="2423160"/>
            <a:ext cx="4288536" cy="457200"/>
          </a:xfrm>
          <a:prstGeom prst="rect">
            <a:avLst/>
          </a:prstGeom>
          <a:noFill/>
        </p:spPr>
        <p:txBody>
          <a:bodyPr wrap="square" lIns="0" tIns="0" rIns="0" bIns="0" rtlCol="0" anchor="t">
            <a:normAutofit/>
          </a:bodyPr>
          <a:lstStyle/>
          <a:p>
            <a:pPr marL="0" indent="0">
              <a:buNone/>
            </a:pPr>
            <a:r>
              <a:rPr lang="en-US" sz="152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Giao diện mobile dạng component, dùng chung mã nguồn Android/iOS.</a:t>
            </a:r>
            <a:endParaRPr lang="en-US" sz="1520" dirty="0"/>
          </a:p>
        </p:txBody>
      </p:sp>
      <p:sp>
        <p:nvSpPr>
          <p:cNvPr id="12" name="Shape 10"/>
          <p:cNvSpPr/>
          <p:nvPr/>
        </p:nvSpPr>
        <p:spPr>
          <a:xfrm>
            <a:off x="6336792" y="1865376"/>
            <a:ext cx="5266944" cy="1170432"/>
          </a:xfrm>
          <a:prstGeom prst="roundRect">
            <a:avLst>
              <a:gd name="adj" fmla="val 9375"/>
            </a:avLst>
          </a:prstGeom>
          <a:solidFill>
            <a:srgbClr val="FFFFFF"/>
          </a:solidFill>
          <a:ln w="10795">
            <a:solidFill>
              <a:srgbClr val="D7E3EE"/>
            </a:solidFill>
            <a:prstDash val="solid"/>
          </a:ln>
        </p:spPr>
      </p:sp>
      <p:sp>
        <p:nvSpPr>
          <p:cNvPr id="13" name="Shape 11"/>
          <p:cNvSpPr/>
          <p:nvPr/>
        </p:nvSpPr>
        <p:spPr>
          <a:xfrm>
            <a:off x="6519672" y="2048256"/>
            <a:ext cx="393192" cy="393192"/>
          </a:xfrm>
          <a:prstGeom prst="ellipse">
            <a:avLst/>
          </a:prstGeom>
          <a:solidFill>
            <a:srgbClr val="1D5EA5"/>
          </a:solidFill>
          <a:ln w="12700">
            <a:solidFill>
              <a:srgbClr val="1D5EA5">
                <a:alpha val="0"/>
              </a:srgbClr>
            </a:solidFill>
            <a:prstDash val="solid"/>
          </a:ln>
        </p:spPr>
      </p:sp>
      <p:sp>
        <p:nvSpPr>
          <p:cNvPr id="14" name="Text 12"/>
          <p:cNvSpPr/>
          <p:nvPr/>
        </p:nvSpPr>
        <p:spPr>
          <a:xfrm>
            <a:off x="6519672" y="2048256"/>
            <a:ext cx="393192" cy="393192"/>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02</a:t>
            </a:r>
            <a:endParaRPr lang="en-US" sz="1200" dirty="0"/>
          </a:p>
        </p:txBody>
      </p:sp>
      <p:sp>
        <p:nvSpPr>
          <p:cNvPr id="15" name="Text 13"/>
          <p:cNvSpPr/>
          <p:nvPr/>
        </p:nvSpPr>
        <p:spPr>
          <a:xfrm>
            <a:off x="7040880" y="2029968"/>
            <a:ext cx="4224528" cy="274320"/>
          </a:xfrm>
          <a:prstGeom prst="rect">
            <a:avLst/>
          </a:prstGeom>
          <a:noFill/>
        </p:spPr>
        <p:txBody>
          <a:bodyPr wrap="square" lIns="0" tIns="0" rIns="0" bIns="0" rtlCol="0" anchor="ctr">
            <a:normAutofit/>
          </a:bodyPr>
          <a:lstStyle/>
          <a:p>
            <a:pPr marL="0" indent="0">
              <a:buNone/>
            </a:pPr>
            <a:r>
              <a:rPr lang="en-US" sz="17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TYPESCRIPT</a:t>
            </a:r>
            <a:endParaRPr lang="en-US" sz="1700" dirty="0"/>
          </a:p>
        </p:txBody>
      </p:sp>
      <p:sp>
        <p:nvSpPr>
          <p:cNvPr id="16" name="Text 14"/>
          <p:cNvSpPr/>
          <p:nvPr/>
        </p:nvSpPr>
        <p:spPr>
          <a:xfrm>
            <a:off x="7040880" y="2423160"/>
            <a:ext cx="4288536" cy="457200"/>
          </a:xfrm>
          <a:prstGeom prst="rect">
            <a:avLst/>
          </a:prstGeom>
          <a:noFill/>
        </p:spPr>
        <p:txBody>
          <a:bodyPr wrap="square" lIns="0" tIns="0" rIns="0" bIns="0" rtlCol="0" anchor="t">
            <a:normAutofit/>
          </a:bodyPr>
          <a:lstStyle/>
          <a:p>
            <a:pPr marL="0" indent="0">
              <a:buNone/>
            </a:pPr>
            <a:r>
              <a:rPr lang="en-US" sz="152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Mô hình hóa dữ liệu và hỗ trợ kiểm tra kiểu khi phát triển.</a:t>
            </a:r>
            <a:endParaRPr lang="en-US" sz="1520" dirty="0"/>
          </a:p>
        </p:txBody>
      </p:sp>
      <p:sp>
        <p:nvSpPr>
          <p:cNvPr id="17" name="Shape 15"/>
          <p:cNvSpPr/>
          <p:nvPr/>
        </p:nvSpPr>
        <p:spPr>
          <a:xfrm>
            <a:off x="704088" y="3209544"/>
            <a:ext cx="5266944" cy="1170432"/>
          </a:xfrm>
          <a:prstGeom prst="roundRect">
            <a:avLst>
              <a:gd name="adj" fmla="val 9375"/>
            </a:avLst>
          </a:prstGeom>
          <a:solidFill>
            <a:srgbClr val="FFFFFF"/>
          </a:solidFill>
          <a:ln w="10795">
            <a:solidFill>
              <a:srgbClr val="D7E3EE"/>
            </a:solidFill>
            <a:prstDash val="solid"/>
          </a:ln>
        </p:spPr>
      </p:sp>
      <p:sp>
        <p:nvSpPr>
          <p:cNvPr id="18" name="Shape 16"/>
          <p:cNvSpPr/>
          <p:nvPr/>
        </p:nvSpPr>
        <p:spPr>
          <a:xfrm>
            <a:off x="886968" y="3392424"/>
            <a:ext cx="393192" cy="393192"/>
          </a:xfrm>
          <a:prstGeom prst="ellipse">
            <a:avLst/>
          </a:prstGeom>
          <a:solidFill>
            <a:srgbClr val="1D5EA5"/>
          </a:solidFill>
          <a:ln w="12700">
            <a:solidFill>
              <a:srgbClr val="1D5EA5">
                <a:alpha val="0"/>
              </a:srgbClr>
            </a:solidFill>
            <a:prstDash val="solid"/>
          </a:ln>
        </p:spPr>
      </p:sp>
      <p:sp>
        <p:nvSpPr>
          <p:cNvPr id="19" name="Text 17"/>
          <p:cNvSpPr/>
          <p:nvPr/>
        </p:nvSpPr>
        <p:spPr>
          <a:xfrm>
            <a:off x="886968" y="3392424"/>
            <a:ext cx="393192" cy="393192"/>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03</a:t>
            </a:r>
            <a:endParaRPr lang="en-US" sz="1200" dirty="0"/>
          </a:p>
        </p:txBody>
      </p:sp>
      <p:sp>
        <p:nvSpPr>
          <p:cNvPr id="20" name="Text 18"/>
          <p:cNvSpPr/>
          <p:nvPr/>
        </p:nvSpPr>
        <p:spPr>
          <a:xfrm>
            <a:off x="1408176" y="3374136"/>
            <a:ext cx="4224528" cy="274320"/>
          </a:xfrm>
          <a:prstGeom prst="rect">
            <a:avLst/>
          </a:prstGeom>
          <a:noFill/>
        </p:spPr>
        <p:txBody>
          <a:bodyPr wrap="square" lIns="0" tIns="0" rIns="0" bIns="0" rtlCol="0" anchor="ctr">
            <a:normAutofit/>
          </a:bodyPr>
          <a:lstStyle/>
          <a:p>
            <a:pPr marL="0" indent="0">
              <a:buNone/>
            </a:pPr>
            <a:r>
              <a:rPr lang="en-US" sz="17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EXPO ROUTER</a:t>
            </a:r>
            <a:endParaRPr lang="en-US" sz="1700" dirty="0"/>
          </a:p>
        </p:txBody>
      </p:sp>
      <p:sp>
        <p:nvSpPr>
          <p:cNvPr id="21" name="Text 19"/>
          <p:cNvSpPr/>
          <p:nvPr/>
        </p:nvSpPr>
        <p:spPr>
          <a:xfrm>
            <a:off x="1408176" y="3767328"/>
            <a:ext cx="4288536" cy="457200"/>
          </a:xfrm>
          <a:prstGeom prst="rect">
            <a:avLst/>
          </a:prstGeom>
          <a:noFill/>
        </p:spPr>
        <p:txBody>
          <a:bodyPr wrap="square" lIns="0" tIns="0" rIns="0" bIns="0" rtlCol="0" anchor="t">
            <a:normAutofit/>
          </a:bodyPr>
          <a:lstStyle/>
          <a:p>
            <a:pPr marL="0" indent="0">
              <a:buNone/>
            </a:pPr>
            <a:r>
              <a:rPr lang="en-US" sz="152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Điều hướng theo file: /home, /books, /scan-book, /librarian.</a:t>
            </a:r>
            <a:endParaRPr lang="en-US" sz="1520" dirty="0"/>
          </a:p>
        </p:txBody>
      </p:sp>
      <p:sp>
        <p:nvSpPr>
          <p:cNvPr id="22" name="Shape 20"/>
          <p:cNvSpPr/>
          <p:nvPr/>
        </p:nvSpPr>
        <p:spPr>
          <a:xfrm>
            <a:off x="6336792" y="3209544"/>
            <a:ext cx="5266944" cy="1170432"/>
          </a:xfrm>
          <a:prstGeom prst="roundRect">
            <a:avLst>
              <a:gd name="adj" fmla="val 9375"/>
            </a:avLst>
          </a:prstGeom>
          <a:solidFill>
            <a:srgbClr val="FFFFFF"/>
          </a:solidFill>
          <a:ln w="10795">
            <a:solidFill>
              <a:srgbClr val="D7E3EE"/>
            </a:solidFill>
            <a:prstDash val="solid"/>
          </a:ln>
        </p:spPr>
      </p:sp>
      <p:sp>
        <p:nvSpPr>
          <p:cNvPr id="23" name="Shape 21"/>
          <p:cNvSpPr/>
          <p:nvPr/>
        </p:nvSpPr>
        <p:spPr>
          <a:xfrm>
            <a:off x="6519672" y="3392424"/>
            <a:ext cx="393192" cy="393192"/>
          </a:xfrm>
          <a:prstGeom prst="ellipse">
            <a:avLst/>
          </a:prstGeom>
          <a:solidFill>
            <a:srgbClr val="1D5EA5"/>
          </a:solidFill>
          <a:ln w="12700">
            <a:solidFill>
              <a:srgbClr val="1D5EA5">
                <a:alpha val="0"/>
              </a:srgbClr>
            </a:solidFill>
            <a:prstDash val="solid"/>
          </a:ln>
        </p:spPr>
      </p:sp>
      <p:sp>
        <p:nvSpPr>
          <p:cNvPr id="24" name="Text 22"/>
          <p:cNvSpPr/>
          <p:nvPr/>
        </p:nvSpPr>
        <p:spPr>
          <a:xfrm>
            <a:off x="6519672" y="3392424"/>
            <a:ext cx="393192" cy="393192"/>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04</a:t>
            </a:r>
            <a:endParaRPr lang="en-US" sz="1200" dirty="0"/>
          </a:p>
        </p:txBody>
      </p:sp>
      <p:sp>
        <p:nvSpPr>
          <p:cNvPr id="25" name="Text 23"/>
          <p:cNvSpPr/>
          <p:nvPr/>
        </p:nvSpPr>
        <p:spPr>
          <a:xfrm>
            <a:off x="7040880" y="3374136"/>
            <a:ext cx="4224528" cy="274320"/>
          </a:xfrm>
          <a:prstGeom prst="rect">
            <a:avLst/>
          </a:prstGeom>
          <a:noFill/>
        </p:spPr>
        <p:txBody>
          <a:bodyPr wrap="square" lIns="0" tIns="0" rIns="0" bIns="0" rtlCol="0" anchor="ctr">
            <a:normAutofit/>
          </a:bodyPr>
          <a:lstStyle/>
          <a:p>
            <a:pPr marL="0" indent="0">
              <a:buNone/>
            </a:pPr>
            <a:r>
              <a:rPr lang="en-US" sz="17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REACT CONTEXT</a:t>
            </a:r>
            <a:endParaRPr lang="en-US" sz="1700" dirty="0"/>
          </a:p>
        </p:txBody>
      </p:sp>
      <p:sp>
        <p:nvSpPr>
          <p:cNvPr id="26" name="Text 24"/>
          <p:cNvSpPr/>
          <p:nvPr/>
        </p:nvSpPr>
        <p:spPr>
          <a:xfrm>
            <a:off x="7040880" y="3767328"/>
            <a:ext cx="4288536" cy="457200"/>
          </a:xfrm>
          <a:prstGeom prst="rect">
            <a:avLst/>
          </a:prstGeom>
          <a:noFill/>
        </p:spPr>
        <p:txBody>
          <a:bodyPr wrap="square" lIns="0" tIns="0" rIns="0" bIns="0" rtlCol="0" anchor="t">
            <a:normAutofit/>
          </a:bodyPr>
          <a:lstStyle/>
          <a:p>
            <a:pPr marL="0" indent="0">
              <a:buNone/>
            </a:pPr>
            <a:r>
              <a:rPr lang="en-US" sz="152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LibraryContext chia sẻ danh mục sách và nghiệp vụ mượn/trả.</a:t>
            </a:r>
            <a:endParaRPr lang="en-US" sz="1520" dirty="0"/>
          </a:p>
        </p:txBody>
      </p:sp>
      <p:sp>
        <p:nvSpPr>
          <p:cNvPr id="27" name="Shape 25"/>
          <p:cNvSpPr/>
          <p:nvPr/>
        </p:nvSpPr>
        <p:spPr>
          <a:xfrm>
            <a:off x="704088" y="4553712"/>
            <a:ext cx="5266944" cy="1170432"/>
          </a:xfrm>
          <a:prstGeom prst="roundRect">
            <a:avLst>
              <a:gd name="adj" fmla="val 9375"/>
            </a:avLst>
          </a:prstGeom>
          <a:solidFill>
            <a:srgbClr val="FFFFFF"/>
          </a:solidFill>
          <a:ln w="10795">
            <a:solidFill>
              <a:srgbClr val="D7E3EE"/>
            </a:solidFill>
            <a:prstDash val="solid"/>
          </a:ln>
        </p:spPr>
      </p:sp>
      <p:sp>
        <p:nvSpPr>
          <p:cNvPr id="28" name="Shape 26"/>
          <p:cNvSpPr/>
          <p:nvPr/>
        </p:nvSpPr>
        <p:spPr>
          <a:xfrm>
            <a:off x="886968" y="4736592"/>
            <a:ext cx="393192" cy="393192"/>
          </a:xfrm>
          <a:prstGeom prst="ellipse">
            <a:avLst/>
          </a:prstGeom>
          <a:solidFill>
            <a:srgbClr val="1D5EA5"/>
          </a:solidFill>
          <a:ln w="12700">
            <a:solidFill>
              <a:srgbClr val="1D5EA5">
                <a:alpha val="0"/>
              </a:srgbClr>
            </a:solidFill>
            <a:prstDash val="solid"/>
          </a:ln>
        </p:spPr>
      </p:sp>
      <p:sp>
        <p:nvSpPr>
          <p:cNvPr id="29" name="Text 27"/>
          <p:cNvSpPr/>
          <p:nvPr/>
        </p:nvSpPr>
        <p:spPr>
          <a:xfrm>
            <a:off x="886968" y="4736592"/>
            <a:ext cx="393192" cy="393192"/>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05</a:t>
            </a:r>
            <a:endParaRPr lang="en-US" sz="1200" dirty="0"/>
          </a:p>
        </p:txBody>
      </p:sp>
      <p:sp>
        <p:nvSpPr>
          <p:cNvPr id="30" name="Text 28"/>
          <p:cNvSpPr/>
          <p:nvPr/>
        </p:nvSpPr>
        <p:spPr>
          <a:xfrm>
            <a:off x="1408176" y="4718304"/>
            <a:ext cx="4224528" cy="274320"/>
          </a:xfrm>
          <a:prstGeom prst="rect">
            <a:avLst/>
          </a:prstGeom>
          <a:noFill/>
        </p:spPr>
        <p:txBody>
          <a:bodyPr wrap="square" lIns="0" tIns="0" rIns="0" bIns="0" rtlCol="0" anchor="ctr">
            <a:normAutofit/>
          </a:bodyPr>
          <a:lstStyle/>
          <a:p>
            <a:pPr marL="0" indent="0">
              <a:buNone/>
            </a:pPr>
            <a:r>
              <a:rPr lang="en-US" sz="17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FIREBASE</a:t>
            </a:r>
            <a:endParaRPr lang="en-US" sz="1700" dirty="0"/>
          </a:p>
        </p:txBody>
      </p:sp>
      <p:sp>
        <p:nvSpPr>
          <p:cNvPr id="31" name="Text 29"/>
          <p:cNvSpPr/>
          <p:nvPr/>
        </p:nvSpPr>
        <p:spPr>
          <a:xfrm>
            <a:off x="1408176" y="5111496"/>
            <a:ext cx="4288536" cy="457200"/>
          </a:xfrm>
          <a:prstGeom prst="rect">
            <a:avLst/>
          </a:prstGeom>
          <a:noFill/>
        </p:spPr>
        <p:txBody>
          <a:bodyPr wrap="square" lIns="0" tIns="0" rIns="0" bIns="0" rtlCol="0" anchor="t">
            <a:normAutofit/>
          </a:bodyPr>
          <a:lstStyle/>
          <a:p>
            <a:pPr marL="0" indent="0">
              <a:buNone/>
            </a:pPr>
            <a:r>
              <a:rPr lang="en-US" sz="152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Authentication xác thực; Realtime Database lưu và đồng bộ dữ liệu.</a:t>
            </a:r>
            <a:endParaRPr lang="en-US" sz="1520" dirty="0"/>
          </a:p>
        </p:txBody>
      </p:sp>
      <p:sp>
        <p:nvSpPr>
          <p:cNvPr id="32" name="Shape 30"/>
          <p:cNvSpPr/>
          <p:nvPr/>
        </p:nvSpPr>
        <p:spPr>
          <a:xfrm>
            <a:off x="6336792" y="4553712"/>
            <a:ext cx="5266944" cy="1170432"/>
          </a:xfrm>
          <a:prstGeom prst="roundRect">
            <a:avLst>
              <a:gd name="adj" fmla="val 9375"/>
            </a:avLst>
          </a:prstGeom>
          <a:solidFill>
            <a:srgbClr val="FFFFFF"/>
          </a:solidFill>
          <a:ln w="10795">
            <a:solidFill>
              <a:srgbClr val="D7E3EE"/>
            </a:solidFill>
            <a:prstDash val="solid"/>
          </a:ln>
        </p:spPr>
      </p:sp>
      <p:sp>
        <p:nvSpPr>
          <p:cNvPr id="33" name="Shape 31"/>
          <p:cNvSpPr/>
          <p:nvPr/>
        </p:nvSpPr>
        <p:spPr>
          <a:xfrm>
            <a:off x="6519672" y="4736592"/>
            <a:ext cx="393192" cy="393192"/>
          </a:xfrm>
          <a:prstGeom prst="ellipse">
            <a:avLst/>
          </a:prstGeom>
          <a:solidFill>
            <a:srgbClr val="1D5EA5"/>
          </a:solidFill>
          <a:ln w="12700">
            <a:solidFill>
              <a:srgbClr val="1D5EA5">
                <a:alpha val="0"/>
              </a:srgbClr>
            </a:solidFill>
            <a:prstDash val="solid"/>
          </a:ln>
        </p:spPr>
      </p:sp>
      <p:sp>
        <p:nvSpPr>
          <p:cNvPr id="34" name="Text 32"/>
          <p:cNvSpPr/>
          <p:nvPr/>
        </p:nvSpPr>
        <p:spPr>
          <a:xfrm>
            <a:off x="6519672" y="4736592"/>
            <a:ext cx="393192" cy="393192"/>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06</a:t>
            </a:r>
            <a:endParaRPr lang="en-US" sz="1200" dirty="0"/>
          </a:p>
        </p:txBody>
      </p:sp>
      <p:sp>
        <p:nvSpPr>
          <p:cNvPr id="35" name="Text 33"/>
          <p:cNvSpPr/>
          <p:nvPr/>
        </p:nvSpPr>
        <p:spPr>
          <a:xfrm>
            <a:off x="7040880" y="4718304"/>
            <a:ext cx="4224528" cy="274320"/>
          </a:xfrm>
          <a:prstGeom prst="rect">
            <a:avLst/>
          </a:prstGeom>
          <a:noFill/>
        </p:spPr>
        <p:txBody>
          <a:bodyPr wrap="square" lIns="0" tIns="0" rIns="0" bIns="0" rtlCol="0" anchor="ctr">
            <a:normAutofit/>
          </a:bodyPr>
          <a:lstStyle/>
          <a:p>
            <a:pPr marL="0" indent="0">
              <a:buNone/>
            </a:pPr>
            <a:r>
              <a:rPr lang="en-US" sz="17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ASYNCSTORAGE + EXPO-CAMERA</a:t>
            </a:r>
            <a:endParaRPr lang="en-US" sz="1700" dirty="0"/>
          </a:p>
        </p:txBody>
      </p:sp>
      <p:sp>
        <p:nvSpPr>
          <p:cNvPr id="36" name="Text 34"/>
          <p:cNvSpPr/>
          <p:nvPr/>
        </p:nvSpPr>
        <p:spPr>
          <a:xfrm>
            <a:off x="7040880" y="5111496"/>
            <a:ext cx="4288536" cy="457200"/>
          </a:xfrm>
          <a:prstGeom prst="rect">
            <a:avLst/>
          </a:prstGeom>
          <a:noFill/>
        </p:spPr>
        <p:txBody>
          <a:bodyPr wrap="square" lIns="0" tIns="0" rIns="0" bIns="0" rtlCol="0" anchor="t">
            <a:normAutofit/>
          </a:bodyPr>
          <a:lstStyle/>
          <a:p>
            <a:pPr marL="0" indent="0">
              <a:buNone/>
            </a:pPr>
            <a:r>
              <a:rPr lang="en-US" sz="152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Duy trì phiên đăng nhập và dùng camera quét barcode/QR.</a:t>
            </a:r>
            <a:endParaRPr lang="en-US" sz="1520" dirty="0"/>
          </a:p>
        </p:txBody>
      </p:sp>
      <p:sp>
        <p:nvSpPr>
          <p:cNvPr id="39" name="Shape 37"/>
          <p:cNvSpPr/>
          <p:nvPr/>
        </p:nvSpPr>
        <p:spPr>
          <a:xfrm>
            <a:off x="667512" y="6473952"/>
            <a:ext cx="10835640" cy="0"/>
          </a:xfrm>
          <a:prstGeom prst="line">
            <a:avLst/>
          </a:prstGeom>
          <a:noFill/>
          <a:ln w="10160">
            <a:solidFill>
              <a:srgbClr val="D7E3EE"/>
            </a:solidFill>
            <a:prstDash val="solid"/>
          </a:ln>
        </p:spPr>
      </p:sp>
      <p:sp>
        <p:nvSpPr>
          <p:cNvPr id="40" name="Text 38"/>
          <p:cNvSpPr/>
          <p:nvPr/>
        </p:nvSpPr>
        <p:spPr>
          <a:xfrm>
            <a:off x="704088" y="6556248"/>
            <a:ext cx="9747504" cy="146304"/>
          </a:xfrm>
          <a:prstGeom prst="rect">
            <a:avLst/>
          </a:prstGeom>
          <a:noFill/>
        </p:spPr>
        <p:txBody>
          <a:bodyPr wrap="square" lIns="0" tIns="0" rIns="0" bIns="0" rtlCol="0" anchor="ctr">
            <a:normAutofit/>
          </a:bodyPr>
          <a:lstStyle/>
          <a:p>
            <a:pPr marL="0" indent="0">
              <a:buNone/>
            </a:pPr>
            <a:r>
              <a:rPr lang="en-US" sz="9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SMART LIBRARY  |  BÁO CÁO ĐỒ ÁN PHÁT TRIỂN ỨNG DỤNG DI ĐỘNG</a:t>
            </a:r>
            <a:endParaRPr lang="en-US" sz="950" dirty="0"/>
          </a:p>
        </p:txBody>
      </p:sp>
      <p:sp>
        <p:nvSpPr>
          <p:cNvPr id="41" name="Text 39"/>
          <p:cNvSpPr/>
          <p:nvPr/>
        </p:nvSpPr>
        <p:spPr>
          <a:xfrm>
            <a:off x="10753344" y="6528816"/>
            <a:ext cx="685800" cy="182880"/>
          </a:xfrm>
          <a:prstGeom prst="rect">
            <a:avLst/>
          </a:prstGeom>
          <a:noFill/>
        </p:spPr>
        <p:txBody>
          <a:bodyPr wrap="square" lIns="0" tIns="0" rIns="0" bIns="0" rtlCol="0" anchor="ctr">
            <a:normAutofit/>
          </a:bodyPr>
          <a:lstStyle/>
          <a:p>
            <a:pPr marL="0" indent="0" algn="r">
              <a:buNone/>
            </a:pPr>
            <a:r>
              <a:rPr lang="en-US" sz="105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3 / 10</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Shape 0"/>
          <p:cNvSpPr/>
          <p:nvPr/>
        </p:nvSpPr>
        <p:spPr>
          <a:xfrm>
            <a:off x="0" y="0"/>
            <a:ext cx="12191997" cy="100584"/>
          </a:xfrm>
          <a:prstGeom prst="rect">
            <a:avLst/>
          </a:prstGeom>
          <a:solidFill>
            <a:srgbClr val="1D5EA5"/>
          </a:solidFill>
          <a:ln w="12700">
            <a:solidFill>
              <a:srgbClr val="1D5EA5">
                <a:alpha val="0"/>
              </a:srgbClr>
            </a:solidFill>
            <a:prstDash val="solid"/>
          </a:ln>
        </p:spPr>
      </p:sp>
      <p:sp>
        <p:nvSpPr>
          <p:cNvPr id="3" name="Text 1"/>
          <p:cNvSpPr/>
          <p:nvPr/>
        </p:nvSpPr>
        <p:spPr>
          <a:xfrm>
            <a:off x="658368" y="310896"/>
            <a:ext cx="960120" cy="219456"/>
          </a:xfrm>
          <a:prstGeom prst="rect">
            <a:avLst/>
          </a:prstGeom>
          <a:noFill/>
        </p:spPr>
        <p:txBody>
          <a:bodyPr wrap="square" lIns="0" tIns="0" rIns="0" bIns="0" rtlCol="0" anchor="ctr">
            <a:normAutofit/>
          </a:bodyPr>
          <a:lstStyle/>
          <a:p>
            <a:pPr marL="0" indent="0">
              <a:buNone/>
            </a:pPr>
            <a:r>
              <a:rPr lang="en-US" sz="120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04 / 10</a:t>
            </a:r>
            <a:endParaRPr lang="en-US" sz="1200" dirty="0"/>
          </a:p>
        </p:txBody>
      </p:sp>
      <p:sp>
        <p:nvSpPr>
          <p:cNvPr id="4" name="Text 2"/>
          <p:cNvSpPr/>
          <p:nvPr/>
        </p:nvSpPr>
        <p:spPr>
          <a:xfrm>
            <a:off x="658368" y="649224"/>
            <a:ext cx="10927080" cy="484632"/>
          </a:xfrm>
          <a:prstGeom prst="rect">
            <a:avLst/>
          </a:prstGeom>
          <a:noFill/>
        </p:spPr>
        <p:txBody>
          <a:bodyPr wrap="square" lIns="0" tIns="0" rIns="0" bIns="0" rtlCol="0" anchor="ctr">
            <a:normAutofit/>
          </a:bodyPr>
          <a:lstStyle/>
          <a:p>
            <a:pPr marL="0" indent="0">
              <a:buNone/>
            </a:pPr>
            <a:r>
              <a:rPr lang="en-US" sz="2900" b="1" dirty="0">
                <a:solidFill>
                  <a:srgbClr val="132C4D"/>
                </a:solidFill>
                <a:latin typeface="Times New Roman" panose="02020603050405020304" pitchFamily="34" charset="0"/>
                <a:ea typeface="Times New Roman" panose="02020603050405020304" pitchFamily="34" charset="-122"/>
                <a:cs typeface="Times New Roman" panose="02020603050405020304" pitchFamily="34" charset="-120"/>
              </a:rPr>
              <a:t>KIẾN TRÚC ỨNG DỤNG VÀ LUỒNG DỮ LIỆU</a:t>
            </a:r>
            <a:endParaRPr lang="en-US" sz="2900" dirty="0"/>
          </a:p>
        </p:txBody>
      </p:sp>
      <p:sp>
        <p:nvSpPr>
          <p:cNvPr id="6" name="Shape 4"/>
          <p:cNvSpPr/>
          <p:nvPr/>
        </p:nvSpPr>
        <p:spPr>
          <a:xfrm>
            <a:off x="649224" y="1664208"/>
            <a:ext cx="10890504" cy="0"/>
          </a:xfrm>
          <a:prstGeom prst="line">
            <a:avLst/>
          </a:prstGeom>
          <a:noFill/>
          <a:ln w="13970">
            <a:solidFill>
              <a:srgbClr val="D7E3EE"/>
            </a:solidFill>
            <a:prstDash val="solid"/>
          </a:ln>
        </p:spPr>
      </p:sp>
      <p:sp>
        <p:nvSpPr>
          <p:cNvPr id="7" name="Shape 5"/>
          <p:cNvSpPr/>
          <p:nvPr/>
        </p:nvSpPr>
        <p:spPr>
          <a:xfrm>
            <a:off x="694944" y="2057400"/>
            <a:ext cx="3236976" cy="2203704"/>
          </a:xfrm>
          <a:prstGeom prst="roundRect">
            <a:avLst>
              <a:gd name="adj" fmla="val 4979"/>
            </a:avLst>
          </a:prstGeom>
          <a:solidFill>
            <a:srgbClr val="FFFFFF"/>
          </a:solidFill>
          <a:ln w="10795">
            <a:solidFill>
              <a:srgbClr val="D7E3EE"/>
            </a:solidFill>
            <a:prstDash val="solid"/>
          </a:ln>
        </p:spPr>
      </p:sp>
      <p:sp>
        <p:nvSpPr>
          <p:cNvPr id="8" name="Shape 6"/>
          <p:cNvSpPr/>
          <p:nvPr/>
        </p:nvSpPr>
        <p:spPr>
          <a:xfrm>
            <a:off x="694944" y="2057400"/>
            <a:ext cx="3236976" cy="448056"/>
          </a:xfrm>
          <a:prstGeom prst="rect">
            <a:avLst/>
          </a:prstGeom>
          <a:solidFill>
            <a:srgbClr val="1D5EA5"/>
          </a:solidFill>
          <a:ln w="12700">
            <a:solidFill>
              <a:srgbClr val="1D5EA5">
                <a:alpha val="0"/>
              </a:srgbClr>
            </a:solidFill>
            <a:prstDash val="solid"/>
          </a:ln>
        </p:spPr>
      </p:sp>
      <p:sp>
        <p:nvSpPr>
          <p:cNvPr id="9" name="Text 7"/>
          <p:cNvSpPr/>
          <p:nvPr/>
        </p:nvSpPr>
        <p:spPr>
          <a:xfrm>
            <a:off x="804672" y="2148840"/>
            <a:ext cx="3017520" cy="246888"/>
          </a:xfrm>
          <a:prstGeom prst="rect">
            <a:avLst/>
          </a:prstGeom>
          <a:noFill/>
        </p:spPr>
        <p:txBody>
          <a:bodyPr wrap="square" lIns="0" tIns="0" rIns="0" bIns="0" rtlCol="0" anchor="ctr">
            <a:normAutofit/>
          </a:bodyPr>
          <a:lstStyle/>
          <a:p>
            <a:pPr marL="0" indent="0" algn="ctr">
              <a:buNone/>
            </a:pPr>
            <a:r>
              <a:rPr lang="en-US" sz="16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TẦNG GIAO DIỆN</a:t>
            </a:r>
            <a:endParaRPr lang="en-US" sz="1600" dirty="0"/>
          </a:p>
        </p:txBody>
      </p:sp>
      <p:sp>
        <p:nvSpPr>
          <p:cNvPr id="10" name="Text 8"/>
          <p:cNvSpPr/>
          <p:nvPr/>
        </p:nvSpPr>
        <p:spPr>
          <a:xfrm>
            <a:off x="896112" y="2688336"/>
            <a:ext cx="2871216" cy="320040"/>
          </a:xfrm>
          <a:prstGeom prst="rect">
            <a:avLst/>
          </a:prstGeom>
          <a:noFill/>
        </p:spPr>
        <p:txBody>
          <a:bodyPr wrap="square" lIns="0" tIns="0" rIns="0" bIns="0" rtlCol="0" anchor="ctr">
            <a:normAutofit/>
          </a:bodyPr>
          <a:lstStyle/>
          <a:p>
            <a:pPr marL="0" indent="0" algn="ctr">
              <a:buNone/>
            </a:pPr>
            <a:r>
              <a:rPr lang="en-US" sz="15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src/app/*.tsx</a:t>
            </a:r>
            <a:endParaRPr lang="en-US" sz="1500" dirty="0"/>
          </a:p>
        </p:txBody>
      </p:sp>
      <p:sp>
        <p:nvSpPr>
          <p:cNvPr id="11" name="Text 9"/>
          <p:cNvSpPr/>
          <p:nvPr/>
        </p:nvSpPr>
        <p:spPr>
          <a:xfrm>
            <a:off x="896112" y="3108960"/>
            <a:ext cx="2843784" cy="950976"/>
          </a:xfrm>
          <a:prstGeom prst="rect">
            <a:avLst/>
          </a:prstGeom>
          <a:noFill/>
        </p:spPr>
        <p:txBody>
          <a:bodyPr wrap="square" lIns="0" tIns="0" rIns="0" bIns="0" rtlCol="0" anchor="ctr">
            <a:normAutofit/>
          </a:bodyPr>
          <a:lstStyle/>
          <a:p>
            <a:pPr marL="0" indent="0" algn="ctr">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Đăng nhập, trang chủ, danh mục,</a:t>
            </a:r>
            <a:endParaRPr lang="en-US" sz="1550" dirty="0"/>
          </a:p>
          <a:p>
            <a:pPr marL="0" indent="0" algn="ctr">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chi tiết sách, lịch sử, quét mã</a:t>
            </a:r>
            <a:endParaRPr lang="en-US" sz="1550" dirty="0"/>
          </a:p>
          <a:p>
            <a:pPr marL="0" indent="0" algn="ctr">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và màn hình quản thư</a:t>
            </a:r>
            <a:endParaRPr lang="en-US" sz="1550" dirty="0"/>
          </a:p>
        </p:txBody>
      </p:sp>
      <p:sp>
        <p:nvSpPr>
          <p:cNvPr id="12" name="Shape 10"/>
          <p:cNvSpPr/>
          <p:nvPr/>
        </p:nvSpPr>
        <p:spPr>
          <a:xfrm>
            <a:off x="4471416" y="2057400"/>
            <a:ext cx="3236976" cy="2203704"/>
          </a:xfrm>
          <a:prstGeom prst="roundRect">
            <a:avLst>
              <a:gd name="adj" fmla="val 4979"/>
            </a:avLst>
          </a:prstGeom>
          <a:solidFill>
            <a:srgbClr val="FFFFFF"/>
          </a:solidFill>
          <a:ln w="10795">
            <a:solidFill>
              <a:srgbClr val="D7E3EE"/>
            </a:solidFill>
            <a:prstDash val="solid"/>
          </a:ln>
        </p:spPr>
      </p:sp>
      <p:sp>
        <p:nvSpPr>
          <p:cNvPr id="13" name="Shape 11"/>
          <p:cNvSpPr/>
          <p:nvPr/>
        </p:nvSpPr>
        <p:spPr>
          <a:xfrm>
            <a:off x="4471416" y="2057400"/>
            <a:ext cx="3236976" cy="448056"/>
          </a:xfrm>
          <a:prstGeom prst="rect">
            <a:avLst/>
          </a:prstGeom>
          <a:solidFill>
            <a:srgbClr val="168A79"/>
          </a:solidFill>
          <a:ln w="12700">
            <a:solidFill>
              <a:srgbClr val="168A79">
                <a:alpha val="0"/>
              </a:srgbClr>
            </a:solidFill>
            <a:prstDash val="solid"/>
          </a:ln>
        </p:spPr>
      </p:sp>
      <p:sp>
        <p:nvSpPr>
          <p:cNvPr id="14" name="Text 12"/>
          <p:cNvSpPr/>
          <p:nvPr/>
        </p:nvSpPr>
        <p:spPr>
          <a:xfrm>
            <a:off x="4581144" y="2148840"/>
            <a:ext cx="3017520" cy="246888"/>
          </a:xfrm>
          <a:prstGeom prst="rect">
            <a:avLst/>
          </a:prstGeom>
          <a:noFill/>
        </p:spPr>
        <p:txBody>
          <a:bodyPr wrap="square" lIns="0" tIns="0" rIns="0" bIns="0" rtlCol="0" anchor="ctr">
            <a:normAutofit/>
          </a:bodyPr>
          <a:lstStyle/>
          <a:p>
            <a:pPr marL="0" indent="0" algn="ctr">
              <a:buNone/>
            </a:pPr>
            <a:r>
              <a:rPr lang="en-US" sz="16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TRẠNG THÁI &amp; NGHIỆP VỤ</a:t>
            </a:r>
            <a:endParaRPr lang="en-US" sz="1600" dirty="0"/>
          </a:p>
        </p:txBody>
      </p:sp>
      <p:sp>
        <p:nvSpPr>
          <p:cNvPr id="15" name="Text 13"/>
          <p:cNvSpPr/>
          <p:nvPr/>
        </p:nvSpPr>
        <p:spPr>
          <a:xfrm>
            <a:off x="4672584" y="2688336"/>
            <a:ext cx="2871216" cy="320040"/>
          </a:xfrm>
          <a:prstGeom prst="rect">
            <a:avLst/>
          </a:prstGeom>
          <a:noFill/>
        </p:spPr>
        <p:txBody>
          <a:bodyPr wrap="square" lIns="0" tIns="0" rIns="0" bIns="0" rtlCol="0" anchor="ctr">
            <a:normAutofit/>
          </a:bodyPr>
          <a:lstStyle/>
          <a:p>
            <a:pPr marL="0" indent="0" algn="ctr">
              <a:buNone/>
            </a:pPr>
            <a:r>
              <a:rPr lang="en-US" sz="15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src/context/LibraryContext.tsx</a:t>
            </a:r>
            <a:endParaRPr lang="en-US" sz="1500" dirty="0"/>
          </a:p>
        </p:txBody>
      </p:sp>
      <p:sp>
        <p:nvSpPr>
          <p:cNvPr id="16" name="Text 14"/>
          <p:cNvSpPr/>
          <p:nvPr/>
        </p:nvSpPr>
        <p:spPr>
          <a:xfrm>
            <a:off x="4672584" y="3108960"/>
            <a:ext cx="2843784" cy="950976"/>
          </a:xfrm>
          <a:prstGeom prst="rect">
            <a:avLst/>
          </a:prstGeom>
          <a:noFill/>
        </p:spPr>
        <p:txBody>
          <a:bodyPr wrap="square" lIns="0" tIns="0" rIns="0" bIns="0" rtlCol="0" anchor="ctr">
            <a:normAutofit/>
          </a:bodyPr>
          <a:lstStyle/>
          <a:p>
            <a:pPr marL="0" indent="0" algn="ctr">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Dùng chung dữ liệu sách, lịch sử;</a:t>
            </a:r>
            <a:endParaRPr lang="en-US" sz="1550" dirty="0"/>
          </a:p>
          <a:p>
            <a:pPr marL="0" indent="0" algn="ctr">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cung cấp borrowBook(), returnBook()</a:t>
            </a:r>
            <a:endParaRPr lang="en-US" sz="1550" dirty="0"/>
          </a:p>
          <a:p>
            <a:pPr marL="0" indent="0" algn="ctr">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và nhận cập nhật onValue()</a:t>
            </a:r>
            <a:endParaRPr lang="en-US" sz="1550" dirty="0"/>
          </a:p>
        </p:txBody>
      </p:sp>
      <p:sp>
        <p:nvSpPr>
          <p:cNvPr id="17" name="Shape 15"/>
          <p:cNvSpPr/>
          <p:nvPr/>
        </p:nvSpPr>
        <p:spPr>
          <a:xfrm>
            <a:off x="8257032" y="2057400"/>
            <a:ext cx="3236976" cy="2203704"/>
          </a:xfrm>
          <a:prstGeom prst="roundRect">
            <a:avLst>
              <a:gd name="adj" fmla="val 4979"/>
            </a:avLst>
          </a:prstGeom>
          <a:solidFill>
            <a:srgbClr val="FFFFFF"/>
          </a:solidFill>
          <a:ln w="10795">
            <a:solidFill>
              <a:srgbClr val="D7E3EE"/>
            </a:solidFill>
            <a:prstDash val="solid"/>
          </a:ln>
        </p:spPr>
      </p:sp>
      <p:sp>
        <p:nvSpPr>
          <p:cNvPr id="18" name="Shape 16"/>
          <p:cNvSpPr/>
          <p:nvPr/>
        </p:nvSpPr>
        <p:spPr>
          <a:xfrm>
            <a:off x="8257032" y="2057400"/>
            <a:ext cx="3236976" cy="448056"/>
          </a:xfrm>
          <a:prstGeom prst="rect">
            <a:avLst/>
          </a:prstGeom>
          <a:solidFill>
            <a:srgbClr val="1D5EA5"/>
          </a:solidFill>
          <a:ln w="12700">
            <a:solidFill>
              <a:srgbClr val="1D5EA5">
                <a:alpha val="0"/>
              </a:srgbClr>
            </a:solidFill>
            <a:prstDash val="solid"/>
          </a:ln>
        </p:spPr>
      </p:sp>
      <p:sp>
        <p:nvSpPr>
          <p:cNvPr id="19" name="Text 17"/>
          <p:cNvSpPr/>
          <p:nvPr/>
        </p:nvSpPr>
        <p:spPr>
          <a:xfrm>
            <a:off x="8366760" y="2148840"/>
            <a:ext cx="3017520" cy="246888"/>
          </a:xfrm>
          <a:prstGeom prst="rect">
            <a:avLst/>
          </a:prstGeom>
          <a:noFill/>
        </p:spPr>
        <p:txBody>
          <a:bodyPr wrap="square" lIns="0" tIns="0" rIns="0" bIns="0" rtlCol="0" anchor="ctr">
            <a:normAutofit/>
          </a:bodyPr>
          <a:lstStyle/>
          <a:p>
            <a:pPr marL="0" indent="0" algn="ctr">
              <a:buNone/>
            </a:pPr>
            <a:r>
              <a:rPr lang="en-US" sz="16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DỊCH VỤ DỮ LIỆU</a:t>
            </a:r>
            <a:endParaRPr lang="en-US" sz="1600" dirty="0"/>
          </a:p>
        </p:txBody>
      </p:sp>
      <p:sp>
        <p:nvSpPr>
          <p:cNvPr id="20" name="Text 18"/>
          <p:cNvSpPr/>
          <p:nvPr/>
        </p:nvSpPr>
        <p:spPr>
          <a:xfrm>
            <a:off x="8458200" y="2688336"/>
            <a:ext cx="2871216" cy="320040"/>
          </a:xfrm>
          <a:prstGeom prst="rect">
            <a:avLst/>
          </a:prstGeom>
          <a:noFill/>
        </p:spPr>
        <p:txBody>
          <a:bodyPr wrap="square" lIns="0" tIns="0" rIns="0" bIns="0" rtlCol="0" anchor="ctr">
            <a:normAutofit/>
          </a:bodyPr>
          <a:lstStyle/>
          <a:p>
            <a:pPr marL="0" indent="0" algn="ctr">
              <a:buNone/>
            </a:pPr>
            <a:r>
              <a:rPr lang="en-US" sz="150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src/config/firebase.ts</a:t>
            </a:r>
            <a:endParaRPr lang="en-US" sz="1500" dirty="0"/>
          </a:p>
        </p:txBody>
      </p:sp>
      <p:sp>
        <p:nvSpPr>
          <p:cNvPr id="21" name="Text 19"/>
          <p:cNvSpPr/>
          <p:nvPr/>
        </p:nvSpPr>
        <p:spPr>
          <a:xfrm>
            <a:off x="8458200" y="3108960"/>
            <a:ext cx="2843784" cy="950976"/>
          </a:xfrm>
          <a:prstGeom prst="rect">
            <a:avLst/>
          </a:prstGeom>
          <a:noFill/>
        </p:spPr>
        <p:txBody>
          <a:bodyPr wrap="square" lIns="0" tIns="0" rIns="0" bIns="0" rtlCol="0" anchor="ctr">
            <a:normAutofit/>
          </a:bodyPr>
          <a:lstStyle/>
          <a:p>
            <a:pPr marL="0" indent="0" algn="ctr">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Firebase Authentication</a:t>
            </a:r>
            <a:endParaRPr lang="en-US" sz="1550" dirty="0"/>
          </a:p>
          <a:p>
            <a:pPr marL="0" indent="0" algn="ctr">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Firebase Realtime Database</a:t>
            </a:r>
            <a:endParaRPr lang="en-US" sz="1550" dirty="0"/>
          </a:p>
          <a:p>
            <a:pPr marL="0" indent="0" algn="ctr">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Node dữ liệu nghiệp vụ</a:t>
            </a:r>
            <a:endParaRPr lang="en-US" sz="1550" dirty="0"/>
          </a:p>
        </p:txBody>
      </p:sp>
      <p:sp>
        <p:nvSpPr>
          <p:cNvPr id="22" name="Shape 20"/>
          <p:cNvSpPr/>
          <p:nvPr/>
        </p:nvSpPr>
        <p:spPr>
          <a:xfrm>
            <a:off x="4032504" y="2962656"/>
            <a:ext cx="338328" cy="393192"/>
          </a:xfrm>
          <a:prstGeom prst="chevron">
            <a:avLst/>
          </a:prstGeom>
          <a:solidFill>
            <a:srgbClr val="00A7D8"/>
          </a:solidFill>
          <a:ln w="12700">
            <a:solidFill>
              <a:srgbClr val="00A7D8">
                <a:alpha val="0"/>
              </a:srgbClr>
            </a:solidFill>
            <a:prstDash val="solid"/>
          </a:ln>
        </p:spPr>
      </p:sp>
      <p:sp>
        <p:nvSpPr>
          <p:cNvPr id="23" name="Shape 21"/>
          <p:cNvSpPr/>
          <p:nvPr/>
        </p:nvSpPr>
        <p:spPr>
          <a:xfrm>
            <a:off x="7808976" y="2962656"/>
            <a:ext cx="338328" cy="393192"/>
          </a:xfrm>
          <a:prstGeom prst="chevron">
            <a:avLst/>
          </a:prstGeom>
          <a:solidFill>
            <a:srgbClr val="00A7D8"/>
          </a:solidFill>
          <a:ln w="12700">
            <a:solidFill>
              <a:srgbClr val="00A7D8">
                <a:alpha val="0"/>
              </a:srgbClr>
            </a:solidFill>
            <a:prstDash val="solid"/>
          </a:ln>
        </p:spPr>
      </p:sp>
      <p:sp>
        <p:nvSpPr>
          <p:cNvPr id="24" name="Shape 22"/>
          <p:cNvSpPr/>
          <p:nvPr/>
        </p:nvSpPr>
        <p:spPr>
          <a:xfrm>
            <a:off x="731520" y="4617720"/>
            <a:ext cx="10753344" cy="1106424"/>
          </a:xfrm>
          <a:prstGeom prst="roundRect">
            <a:avLst>
              <a:gd name="adj" fmla="val 9917"/>
            </a:avLst>
          </a:prstGeom>
          <a:solidFill>
            <a:srgbClr val="EAF3FA"/>
          </a:solidFill>
          <a:ln w="10795">
            <a:solidFill>
              <a:srgbClr val="EAF3FA"/>
            </a:solidFill>
            <a:prstDash val="solid"/>
          </a:ln>
        </p:spPr>
      </p:sp>
      <p:sp>
        <p:nvSpPr>
          <p:cNvPr id="25" name="Text 23"/>
          <p:cNvSpPr/>
          <p:nvPr/>
        </p:nvSpPr>
        <p:spPr>
          <a:xfrm>
            <a:off x="960120" y="4773168"/>
            <a:ext cx="2185416" cy="265176"/>
          </a:xfrm>
          <a:prstGeom prst="rect">
            <a:avLst/>
          </a:prstGeom>
          <a:noFill/>
        </p:spPr>
        <p:txBody>
          <a:bodyPr wrap="square" lIns="0" tIns="0" rIns="0" bIns="0" rtlCol="0" anchor="ctr">
            <a:normAutofit/>
          </a:bodyPr>
          <a:lstStyle/>
          <a:p>
            <a:pPr marL="0" indent="0">
              <a:buNone/>
            </a:pPr>
            <a:r>
              <a:rPr lang="en-US" sz="155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LUỒNG TỔNG QUÁT</a:t>
            </a:r>
            <a:endParaRPr lang="en-US" sz="1550" dirty="0"/>
          </a:p>
        </p:txBody>
      </p:sp>
      <p:sp>
        <p:nvSpPr>
          <p:cNvPr id="26" name="Text 24"/>
          <p:cNvSpPr/>
          <p:nvPr/>
        </p:nvSpPr>
        <p:spPr>
          <a:xfrm>
            <a:off x="960120" y="5166360"/>
            <a:ext cx="10149840" cy="338328"/>
          </a:xfrm>
          <a:prstGeom prst="rect">
            <a:avLst/>
          </a:prstGeom>
          <a:noFill/>
        </p:spPr>
        <p:txBody>
          <a:bodyPr wrap="square" lIns="0" tIns="0" rIns="0" bIns="0" rtlCol="0" anchor="ctr">
            <a:normAutofit/>
          </a:bodyPr>
          <a:lstStyle/>
          <a:p>
            <a:pPr marL="0" indent="0">
              <a:buNone/>
            </a:pPr>
            <a:r>
              <a:rPr lang="en-US" sz="1600"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Tương tác người dùng → Screen/Component → LibraryContext hoặc Firebase SDK → Realtime Database → UI cập nhật.</a:t>
            </a:r>
            <a:endParaRPr lang="en-US" sz="1600" dirty="0"/>
          </a:p>
        </p:txBody>
      </p:sp>
      <p:sp>
        <p:nvSpPr>
          <p:cNvPr id="28" name="Shape 26"/>
          <p:cNvSpPr/>
          <p:nvPr/>
        </p:nvSpPr>
        <p:spPr>
          <a:xfrm>
            <a:off x="667512" y="6473952"/>
            <a:ext cx="10835640" cy="0"/>
          </a:xfrm>
          <a:prstGeom prst="line">
            <a:avLst/>
          </a:prstGeom>
          <a:noFill/>
          <a:ln w="10160">
            <a:solidFill>
              <a:srgbClr val="D7E3EE"/>
            </a:solidFill>
            <a:prstDash val="solid"/>
          </a:ln>
        </p:spPr>
      </p:sp>
      <p:sp>
        <p:nvSpPr>
          <p:cNvPr id="29" name="Text 27"/>
          <p:cNvSpPr/>
          <p:nvPr/>
        </p:nvSpPr>
        <p:spPr>
          <a:xfrm>
            <a:off x="704088" y="6556248"/>
            <a:ext cx="9747504" cy="146304"/>
          </a:xfrm>
          <a:prstGeom prst="rect">
            <a:avLst/>
          </a:prstGeom>
          <a:noFill/>
        </p:spPr>
        <p:txBody>
          <a:bodyPr wrap="square" lIns="0" tIns="0" rIns="0" bIns="0" rtlCol="0" anchor="ctr">
            <a:normAutofit/>
          </a:bodyPr>
          <a:lstStyle/>
          <a:p>
            <a:pPr marL="0" indent="0">
              <a:buNone/>
            </a:pPr>
            <a:r>
              <a:rPr lang="en-US" sz="9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SMART LIBRARY  |  BÁO CÁO ĐỒ ÁN PHÁT TRIỂN ỨNG DỤNG DI ĐỘNG</a:t>
            </a:r>
            <a:endParaRPr lang="en-US" sz="950" dirty="0"/>
          </a:p>
        </p:txBody>
      </p:sp>
      <p:sp>
        <p:nvSpPr>
          <p:cNvPr id="30" name="Text 28"/>
          <p:cNvSpPr/>
          <p:nvPr/>
        </p:nvSpPr>
        <p:spPr>
          <a:xfrm>
            <a:off x="10753344" y="6528816"/>
            <a:ext cx="685800" cy="182880"/>
          </a:xfrm>
          <a:prstGeom prst="rect">
            <a:avLst/>
          </a:prstGeom>
          <a:noFill/>
        </p:spPr>
        <p:txBody>
          <a:bodyPr wrap="square" lIns="0" tIns="0" rIns="0" bIns="0" rtlCol="0" anchor="ctr">
            <a:normAutofit/>
          </a:bodyPr>
          <a:lstStyle/>
          <a:p>
            <a:pPr marL="0" indent="0" algn="r">
              <a:buNone/>
            </a:pPr>
            <a:r>
              <a:rPr lang="en-US" sz="105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4 / 10</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Shape 0"/>
          <p:cNvSpPr/>
          <p:nvPr/>
        </p:nvSpPr>
        <p:spPr>
          <a:xfrm>
            <a:off x="0" y="0"/>
            <a:ext cx="12191997" cy="100584"/>
          </a:xfrm>
          <a:prstGeom prst="rect">
            <a:avLst/>
          </a:prstGeom>
          <a:solidFill>
            <a:srgbClr val="1D5EA5"/>
          </a:solidFill>
          <a:ln w="12700">
            <a:solidFill>
              <a:srgbClr val="1D5EA5">
                <a:alpha val="0"/>
              </a:srgbClr>
            </a:solidFill>
            <a:prstDash val="solid"/>
          </a:ln>
        </p:spPr>
      </p:sp>
      <p:sp>
        <p:nvSpPr>
          <p:cNvPr id="3" name="Text 1"/>
          <p:cNvSpPr/>
          <p:nvPr/>
        </p:nvSpPr>
        <p:spPr>
          <a:xfrm>
            <a:off x="658368" y="310896"/>
            <a:ext cx="960120" cy="219456"/>
          </a:xfrm>
          <a:prstGeom prst="rect">
            <a:avLst/>
          </a:prstGeom>
          <a:noFill/>
        </p:spPr>
        <p:txBody>
          <a:bodyPr wrap="square" lIns="0" tIns="0" rIns="0" bIns="0" rtlCol="0" anchor="ctr">
            <a:normAutofit/>
          </a:bodyPr>
          <a:lstStyle/>
          <a:p>
            <a:pPr marL="0" indent="0">
              <a:buNone/>
            </a:pPr>
            <a:r>
              <a:rPr lang="en-US" sz="120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05 / 10</a:t>
            </a:r>
            <a:endParaRPr lang="en-US" sz="1200" dirty="0"/>
          </a:p>
        </p:txBody>
      </p:sp>
      <p:sp>
        <p:nvSpPr>
          <p:cNvPr id="4" name="Text 2"/>
          <p:cNvSpPr/>
          <p:nvPr/>
        </p:nvSpPr>
        <p:spPr>
          <a:xfrm>
            <a:off x="658368" y="649224"/>
            <a:ext cx="10927080" cy="484632"/>
          </a:xfrm>
          <a:prstGeom prst="rect">
            <a:avLst/>
          </a:prstGeom>
          <a:noFill/>
        </p:spPr>
        <p:txBody>
          <a:bodyPr wrap="square" lIns="0" tIns="0" rIns="0" bIns="0" rtlCol="0" anchor="ctr">
            <a:normAutofit/>
          </a:bodyPr>
          <a:lstStyle/>
          <a:p>
            <a:pPr marL="0" indent="0">
              <a:buNone/>
            </a:pPr>
            <a:r>
              <a:rPr lang="en-US" sz="2900" b="1" dirty="0">
                <a:solidFill>
                  <a:srgbClr val="132C4D"/>
                </a:solidFill>
                <a:latin typeface="Times New Roman" panose="02020603050405020304" pitchFamily="34" charset="0"/>
                <a:ea typeface="Times New Roman" panose="02020603050405020304" pitchFamily="34" charset="-122"/>
                <a:cs typeface="Times New Roman" panose="02020603050405020304" pitchFamily="34" charset="-120"/>
              </a:rPr>
              <a:t>ĐĂNG NHẬP, ĐĂNG KÝ VÀ PHÂN QUYỀN</a:t>
            </a:r>
            <a:endParaRPr lang="en-US" sz="2900" dirty="0"/>
          </a:p>
        </p:txBody>
      </p:sp>
      <p:sp>
        <p:nvSpPr>
          <p:cNvPr id="5" name="Text 3"/>
          <p:cNvSpPr/>
          <p:nvPr/>
        </p:nvSpPr>
        <p:spPr>
          <a:xfrm>
            <a:off x="667512" y="1207008"/>
            <a:ext cx="10835640" cy="338328"/>
          </a:xfrm>
          <a:prstGeom prst="rect">
            <a:avLst/>
          </a:prstGeom>
          <a:noFill/>
        </p:spPr>
        <p:txBody>
          <a:bodyPr wrap="square" lIns="0" tIns="0" rIns="0" bIns="0" rtlCol="0" anchor="ctr">
            <a:normAutofit/>
          </a:bodyPr>
          <a:lstStyle/>
          <a:p>
            <a:pPr marL="0" indent="0">
              <a:buNone/>
            </a:pPr>
            <a:r>
              <a:rPr lang="en-US" sz="1450" i="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Giao diện hai nhóm tài khoản và cơ chế định tuyến theo vai trò.</a:t>
            </a:r>
            <a:endParaRPr lang="en-US" sz="1450" dirty="0"/>
          </a:p>
        </p:txBody>
      </p:sp>
      <p:sp>
        <p:nvSpPr>
          <p:cNvPr id="6" name="Shape 4"/>
          <p:cNvSpPr/>
          <p:nvPr/>
        </p:nvSpPr>
        <p:spPr>
          <a:xfrm>
            <a:off x="649224" y="1664208"/>
            <a:ext cx="10890504" cy="0"/>
          </a:xfrm>
          <a:prstGeom prst="line">
            <a:avLst/>
          </a:prstGeom>
          <a:noFill/>
          <a:ln w="13970">
            <a:solidFill>
              <a:srgbClr val="D7E3EE"/>
            </a:solidFill>
            <a:prstDash val="solid"/>
          </a:ln>
        </p:spPr>
      </p:sp>
      <p:sp>
        <p:nvSpPr>
          <p:cNvPr id="7" name="Shape 5"/>
          <p:cNvSpPr/>
          <p:nvPr/>
        </p:nvSpPr>
        <p:spPr>
          <a:xfrm>
            <a:off x="768096" y="1856232"/>
            <a:ext cx="2240280" cy="4315968"/>
          </a:xfrm>
          <a:prstGeom prst="roundRect">
            <a:avLst>
              <a:gd name="adj" fmla="val 4898"/>
            </a:avLst>
          </a:prstGeom>
          <a:solidFill>
            <a:srgbClr val="FFFFFF"/>
          </a:solidFill>
          <a:ln w="10795">
            <a:solidFill>
              <a:srgbClr val="CDDBEA"/>
            </a:solidFill>
            <a:prstDash val="solid"/>
          </a:ln>
        </p:spPr>
      </p:sp>
      <p:pic>
        <p:nvPicPr>
          <p:cNvPr id="8" name="Image 0" descr="/mnt/data/smart_work/figures/login_left.png"/>
          <p:cNvPicPr>
            <a:picLocks noChangeAspect="1"/>
          </p:cNvPicPr>
          <p:nvPr/>
        </p:nvPicPr>
        <p:blipFill>
          <a:blip r:embed="rId1"/>
          <a:stretch>
            <a:fillRect/>
          </a:stretch>
        </p:blipFill>
        <p:spPr>
          <a:xfrm>
            <a:off x="907235" y="1920240"/>
            <a:ext cx="1962003" cy="4187952"/>
          </a:xfrm>
          <a:prstGeom prst="rect">
            <a:avLst/>
          </a:prstGeom>
        </p:spPr>
      </p:pic>
      <p:sp>
        <p:nvSpPr>
          <p:cNvPr id="9" name="Text 6"/>
          <p:cNvSpPr/>
          <p:nvPr/>
        </p:nvSpPr>
        <p:spPr>
          <a:xfrm>
            <a:off x="768096" y="6245352"/>
            <a:ext cx="2240280" cy="182880"/>
          </a:xfrm>
          <a:prstGeom prst="rect">
            <a:avLst/>
          </a:prstGeom>
          <a:noFill/>
        </p:spPr>
        <p:txBody>
          <a:bodyPr wrap="square" lIns="0" tIns="0" rIns="0" bIns="0" rtlCol="0" anchor="ctr">
            <a:normAutofit/>
          </a:bodyPr>
          <a:lstStyle/>
          <a:p>
            <a:pPr marL="0" indent="0" algn="ctr">
              <a:buNone/>
            </a:pPr>
            <a:r>
              <a:rPr lang="en-US" sz="1150" b="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Đăng nhập độc giả</a:t>
            </a:r>
            <a:endParaRPr lang="en-US" sz="1150" dirty="0"/>
          </a:p>
        </p:txBody>
      </p:sp>
      <p:sp>
        <p:nvSpPr>
          <p:cNvPr id="10" name="Shape 7"/>
          <p:cNvSpPr/>
          <p:nvPr/>
        </p:nvSpPr>
        <p:spPr>
          <a:xfrm>
            <a:off x="3246120" y="1856232"/>
            <a:ext cx="2240280" cy="4315968"/>
          </a:xfrm>
          <a:prstGeom prst="roundRect">
            <a:avLst>
              <a:gd name="adj" fmla="val 4898"/>
            </a:avLst>
          </a:prstGeom>
          <a:solidFill>
            <a:srgbClr val="FFFFFF"/>
          </a:solidFill>
          <a:ln w="10795">
            <a:solidFill>
              <a:srgbClr val="CDDBEA"/>
            </a:solidFill>
            <a:prstDash val="solid"/>
          </a:ln>
        </p:spPr>
      </p:sp>
      <p:pic>
        <p:nvPicPr>
          <p:cNvPr id="11" name="Image 1" descr="/mnt/data/smart_work/figures/login_right.png"/>
          <p:cNvPicPr>
            <a:picLocks noChangeAspect="1"/>
          </p:cNvPicPr>
          <p:nvPr/>
        </p:nvPicPr>
        <p:blipFill>
          <a:blip r:embed="rId2"/>
          <a:stretch>
            <a:fillRect/>
          </a:stretch>
        </p:blipFill>
        <p:spPr>
          <a:xfrm>
            <a:off x="3385259" y="1920240"/>
            <a:ext cx="1962003" cy="4187952"/>
          </a:xfrm>
          <a:prstGeom prst="rect">
            <a:avLst/>
          </a:prstGeom>
        </p:spPr>
      </p:pic>
      <p:sp>
        <p:nvSpPr>
          <p:cNvPr id="12" name="Text 8"/>
          <p:cNvSpPr/>
          <p:nvPr/>
        </p:nvSpPr>
        <p:spPr>
          <a:xfrm>
            <a:off x="3246120" y="6245352"/>
            <a:ext cx="2240280" cy="182880"/>
          </a:xfrm>
          <a:prstGeom prst="rect">
            <a:avLst/>
          </a:prstGeom>
          <a:noFill/>
        </p:spPr>
        <p:txBody>
          <a:bodyPr wrap="square" lIns="0" tIns="0" rIns="0" bIns="0" rtlCol="0" anchor="ctr">
            <a:normAutofit/>
          </a:bodyPr>
          <a:lstStyle/>
          <a:p>
            <a:pPr marL="0" indent="0" algn="ctr">
              <a:buNone/>
            </a:pPr>
            <a:r>
              <a:rPr lang="en-US" sz="1150" b="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Đăng nhập quản thư</a:t>
            </a:r>
            <a:endParaRPr lang="en-US" sz="1150" dirty="0"/>
          </a:p>
        </p:txBody>
      </p:sp>
      <p:sp>
        <p:nvSpPr>
          <p:cNvPr id="13" name="Shape 9"/>
          <p:cNvSpPr/>
          <p:nvPr/>
        </p:nvSpPr>
        <p:spPr>
          <a:xfrm>
            <a:off x="5852160" y="1865376"/>
            <a:ext cx="2130552" cy="310896"/>
          </a:xfrm>
          <a:prstGeom prst="roundRect">
            <a:avLst>
              <a:gd name="adj" fmla="val 35294"/>
            </a:avLst>
          </a:prstGeom>
          <a:solidFill>
            <a:srgbClr val="EAF3FA"/>
          </a:solidFill>
          <a:ln w="10795">
            <a:solidFill>
              <a:srgbClr val="EAF3FA"/>
            </a:solidFill>
            <a:prstDash val="solid"/>
          </a:ln>
        </p:spPr>
      </p:sp>
      <p:sp>
        <p:nvSpPr>
          <p:cNvPr id="14" name="Text 10"/>
          <p:cNvSpPr/>
          <p:nvPr/>
        </p:nvSpPr>
        <p:spPr>
          <a:xfrm>
            <a:off x="5907024" y="1874520"/>
            <a:ext cx="2020824" cy="265176"/>
          </a:xfrm>
          <a:prstGeom prst="rect">
            <a:avLst/>
          </a:prstGeom>
          <a:noFill/>
        </p:spPr>
        <p:txBody>
          <a:bodyPr wrap="square" lIns="0" tIns="0" rIns="0" bIns="0" rtlCol="0" anchor="ctr">
            <a:normAutofit/>
          </a:bodyPr>
          <a:lstStyle/>
          <a:p>
            <a:pPr marL="0" indent="0" algn="ctr">
              <a:buNone/>
            </a:pPr>
            <a:r>
              <a:rPr lang="en-US" sz="114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CÁC BƯỚC XỬ LÝ</a:t>
            </a:r>
            <a:endParaRPr lang="en-US" sz="1140" dirty="0"/>
          </a:p>
        </p:txBody>
      </p:sp>
      <p:sp>
        <p:nvSpPr>
          <p:cNvPr id="15" name="Shape 11"/>
          <p:cNvSpPr/>
          <p:nvPr/>
        </p:nvSpPr>
        <p:spPr>
          <a:xfrm>
            <a:off x="5852160" y="2423160"/>
            <a:ext cx="347472" cy="347472"/>
          </a:xfrm>
          <a:prstGeom prst="ellipse">
            <a:avLst/>
          </a:prstGeom>
          <a:solidFill>
            <a:srgbClr val="1D5EA5"/>
          </a:solidFill>
          <a:ln w="12700">
            <a:solidFill>
              <a:srgbClr val="1D5EA5">
                <a:alpha val="0"/>
              </a:srgbClr>
            </a:solidFill>
            <a:prstDash val="solid"/>
          </a:ln>
        </p:spPr>
      </p:sp>
      <p:sp>
        <p:nvSpPr>
          <p:cNvPr id="16" name="Text 12"/>
          <p:cNvSpPr/>
          <p:nvPr/>
        </p:nvSpPr>
        <p:spPr>
          <a:xfrm>
            <a:off x="5852160" y="2423160"/>
            <a:ext cx="347472" cy="347472"/>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1</a:t>
            </a:r>
            <a:endParaRPr lang="en-US" sz="1200" dirty="0"/>
          </a:p>
        </p:txBody>
      </p:sp>
      <p:sp>
        <p:nvSpPr>
          <p:cNvPr id="17" name="Text 13"/>
          <p:cNvSpPr/>
          <p:nvPr/>
        </p:nvSpPr>
        <p:spPr>
          <a:xfrm>
            <a:off x="6382512" y="2377440"/>
            <a:ext cx="4773168" cy="484632"/>
          </a:xfrm>
          <a:prstGeom prst="rect">
            <a:avLst/>
          </a:prstGeom>
          <a:noFill/>
        </p:spPr>
        <p:txBody>
          <a:bodyPr wrap="square" lIns="0" tIns="0" rIns="0" bIns="0" rtlCol="0" anchor="ctr">
            <a:normAutofit/>
          </a:bodyPr>
          <a:lstStyle/>
          <a:p>
            <a:pPr marL="0" indent="0">
              <a:buNone/>
            </a:pPr>
            <a:r>
              <a:rPr lang="en-US" sz="1630"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Chọn vai trò và nhập email / mật khẩu.</a:t>
            </a:r>
            <a:endParaRPr lang="en-US" sz="1630" dirty="0"/>
          </a:p>
        </p:txBody>
      </p:sp>
      <p:sp>
        <p:nvSpPr>
          <p:cNvPr id="18" name="Shape 14"/>
          <p:cNvSpPr/>
          <p:nvPr/>
        </p:nvSpPr>
        <p:spPr>
          <a:xfrm>
            <a:off x="5852160" y="3099816"/>
            <a:ext cx="347472" cy="347472"/>
          </a:xfrm>
          <a:prstGeom prst="ellipse">
            <a:avLst/>
          </a:prstGeom>
          <a:solidFill>
            <a:srgbClr val="1D5EA5"/>
          </a:solidFill>
          <a:ln w="12700">
            <a:solidFill>
              <a:srgbClr val="1D5EA5">
                <a:alpha val="0"/>
              </a:srgbClr>
            </a:solidFill>
            <a:prstDash val="solid"/>
          </a:ln>
        </p:spPr>
      </p:sp>
      <p:sp>
        <p:nvSpPr>
          <p:cNvPr id="19" name="Text 15"/>
          <p:cNvSpPr/>
          <p:nvPr/>
        </p:nvSpPr>
        <p:spPr>
          <a:xfrm>
            <a:off x="5852160" y="3099816"/>
            <a:ext cx="347472" cy="347472"/>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2</a:t>
            </a:r>
            <a:endParaRPr lang="en-US" sz="1200" dirty="0"/>
          </a:p>
        </p:txBody>
      </p:sp>
      <p:sp>
        <p:nvSpPr>
          <p:cNvPr id="20" name="Text 16"/>
          <p:cNvSpPr/>
          <p:nvPr/>
        </p:nvSpPr>
        <p:spPr>
          <a:xfrm>
            <a:off x="6382512" y="3054096"/>
            <a:ext cx="4773168" cy="484632"/>
          </a:xfrm>
          <a:prstGeom prst="rect">
            <a:avLst/>
          </a:prstGeom>
          <a:noFill/>
        </p:spPr>
        <p:txBody>
          <a:bodyPr wrap="square" lIns="0" tIns="0" rIns="0" bIns="0" rtlCol="0" anchor="ctr">
            <a:normAutofit/>
          </a:bodyPr>
          <a:lstStyle/>
          <a:p>
            <a:pPr marL="0" indent="0">
              <a:buNone/>
            </a:pPr>
            <a:r>
              <a:rPr lang="en-US" sz="1630"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Firebase Authentication xác thực tài khoản.</a:t>
            </a:r>
            <a:endParaRPr lang="en-US" sz="1630" dirty="0"/>
          </a:p>
        </p:txBody>
      </p:sp>
      <p:sp>
        <p:nvSpPr>
          <p:cNvPr id="21" name="Shape 17"/>
          <p:cNvSpPr/>
          <p:nvPr/>
        </p:nvSpPr>
        <p:spPr>
          <a:xfrm>
            <a:off x="5852160" y="3776472"/>
            <a:ext cx="347472" cy="347472"/>
          </a:xfrm>
          <a:prstGeom prst="ellipse">
            <a:avLst/>
          </a:prstGeom>
          <a:solidFill>
            <a:srgbClr val="1D5EA5"/>
          </a:solidFill>
          <a:ln w="12700">
            <a:solidFill>
              <a:srgbClr val="1D5EA5">
                <a:alpha val="0"/>
              </a:srgbClr>
            </a:solidFill>
            <a:prstDash val="solid"/>
          </a:ln>
        </p:spPr>
      </p:sp>
      <p:sp>
        <p:nvSpPr>
          <p:cNvPr id="22" name="Text 18"/>
          <p:cNvSpPr/>
          <p:nvPr/>
        </p:nvSpPr>
        <p:spPr>
          <a:xfrm>
            <a:off x="5852160" y="3776472"/>
            <a:ext cx="347472" cy="347472"/>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3</a:t>
            </a:r>
            <a:endParaRPr lang="en-US" sz="1200" dirty="0"/>
          </a:p>
        </p:txBody>
      </p:sp>
      <p:sp>
        <p:nvSpPr>
          <p:cNvPr id="23" name="Text 19"/>
          <p:cNvSpPr/>
          <p:nvPr/>
        </p:nvSpPr>
        <p:spPr>
          <a:xfrm>
            <a:off x="6382512" y="3730752"/>
            <a:ext cx="4773168" cy="484632"/>
          </a:xfrm>
          <a:prstGeom prst="rect">
            <a:avLst/>
          </a:prstGeom>
          <a:noFill/>
        </p:spPr>
        <p:txBody>
          <a:bodyPr wrap="square" lIns="0" tIns="0" rIns="0" bIns="0" rtlCol="0" anchor="ctr">
            <a:normAutofit/>
          </a:bodyPr>
          <a:lstStyle/>
          <a:p>
            <a:pPr marL="0" indent="0">
              <a:buNone/>
            </a:pPr>
            <a:r>
              <a:rPr lang="en-US" sz="1630"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Đọc thông tin người dùng tại users/{uid}.</a:t>
            </a:r>
            <a:endParaRPr lang="en-US" sz="1630" dirty="0"/>
          </a:p>
        </p:txBody>
      </p:sp>
      <p:sp>
        <p:nvSpPr>
          <p:cNvPr id="24" name="Shape 20"/>
          <p:cNvSpPr/>
          <p:nvPr/>
        </p:nvSpPr>
        <p:spPr>
          <a:xfrm>
            <a:off x="5852160" y="4453128"/>
            <a:ext cx="347472" cy="347472"/>
          </a:xfrm>
          <a:prstGeom prst="ellipse">
            <a:avLst/>
          </a:prstGeom>
          <a:solidFill>
            <a:srgbClr val="1D5EA5"/>
          </a:solidFill>
          <a:ln w="12700">
            <a:solidFill>
              <a:srgbClr val="1D5EA5">
                <a:alpha val="0"/>
              </a:srgbClr>
            </a:solidFill>
            <a:prstDash val="solid"/>
          </a:ln>
        </p:spPr>
      </p:sp>
      <p:sp>
        <p:nvSpPr>
          <p:cNvPr id="25" name="Text 21"/>
          <p:cNvSpPr/>
          <p:nvPr/>
        </p:nvSpPr>
        <p:spPr>
          <a:xfrm>
            <a:off x="5852160" y="4453128"/>
            <a:ext cx="347472" cy="347472"/>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4</a:t>
            </a:r>
            <a:endParaRPr lang="en-US" sz="1200" dirty="0"/>
          </a:p>
        </p:txBody>
      </p:sp>
      <p:sp>
        <p:nvSpPr>
          <p:cNvPr id="26" name="Text 22"/>
          <p:cNvSpPr/>
          <p:nvPr/>
        </p:nvSpPr>
        <p:spPr>
          <a:xfrm>
            <a:off x="6382512" y="4407408"/>
            <a:ext cx="4773168" cy="484632"/>
          </a:xfrm>
          <a:prstGeom prst="rect">
            <a:avLst/>
          </a:prstGeom>
          <a:noFill/>
        </p:spPr>
        <p:txBody>
          <a:bodyPr wrap="square" lIns="0" tIns="0" rIns="0" bIns="0" rtlCol="0" anchor="ctr">
            <a:normAutofit/>
          </a:bodyPr>
          <a:lstStyle/>
          <a:p>
            <a:pPr marL="0" indent="0">
              <a:buNone/>
            </a:pPr>
            <a:r>
              <a:rPr lang="en-US" sz="1630"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Độc giả → /home; quản thư → /librarian.</a:t>
            </a:r>
            <a:endParaRPr lang="en-US" sz="1630" dirty="0"/>
          </a:p>
        </p:txBody>
      </p:sp>
      <p:sp>
        <p:nvSpPr>
          <p:cNvPr id="27" name="Shape 23"/>
          <p:cNvSpPr/>
          <p:nvPr/>
        </p:nvSpPr>
        <p:spPr>
          <a:xfrm>
            <a:off x="5861304" y="5294376"/>
            <a:ext cx="5495544" cy="941832"/>
          </a:xfrm>
          <a:prstGeom prst="roundRect">
            <a:avLst>
              <a:gd name="adj" fmla="val 11650"/>
            </a:avLst>
          </a:prstGeom>
          <a:solidFill>
            <a:srgbClr val="FFF5E5"/>
          </a:solidFill>
          <a:ln w="10795">
            <a:solidFill>
              <a:srgbClr val="FFF5E5"/>
            </a:solidFill>
            <a:prstDash val="solid"/>
          </a:ln>
        </p:spPr>
      </p:sp>
      <p:sp>
        <p:nvSpPr>
          <p:cNvPr id="28" name="Text 24"/>
          <p:cNvSpPr/>
          <p:nvPr/>
        </p:nvSpPr>
        <p:spPr>
          <a:xfrm>
            <a:off x="6080760" y="5449824"/>
            <a:ext cx="5047488" cy="246888"/>
          </a:xfrm>
          <a:prstGeom prst="rect">
            <a:avLst/>
          </a:prstGeom>
          <a:noFill/>
        </p:spPr>
        <p:txBody>
          <a:bodyPr wrap="square" lIns="0" tIns="0" rIns="0" bIns="0" rtlCol="0" anchor="ctr">
            <a:normAutofit/>
          </a:bodyPr>
          <a:lstStyle/>
          <a:p>
            <a:pPr marL="0" indent="0">
              <a:buNone/>
            </a:pPr>
            <a:r>
              <a:rPr lang="en-US" sz="1600" b="1" dirty="0">
                <a:solidFill>
                  <a:srgbClr val="A96620"/>
                </a:solidFill>
                <a:latin typeface="Times New Roman" panose="02020603050405020304" pitchFamily="34" charset="0"/>
                <a:ea typeface="Times New Roman" panose="02020603050405020304" pitchFamily="34" charset="-122"/>
                <a:cs typeface="Times New Roman" panose="02020603050405020304" pitchFamily="34" charset="-120"/>
              </a:rPr>
              <a:t>Lưu ý bảo mật</a:t>
            </a:r>
            <a:endParaRPr lang="en-US" sz="1600" dirty="0"/>
          </a:p>
        </p:txBody>
      </p:sp>
      <p:sp>
        <p:nvSpPr>
          <p:cNvPr id="29" name="Text 25"/>
          <p:cNvSpPr/>
          <p:nvPr/>
        </p:nvSpPr>
        <p:spPr>
          <a:xfrm>
            <a:off x="6080760" y="5769864"/>
            <a:ext cx="4965192" cy="384048"/>
          </a:xfrm>
          <a:prstGeom prst="rect">
            <a:avLst/>
          </a:prstGeom>
          <a:noFill/>
        </p:spPr>
        <p:txBody>
          <a:bodyPr wrap="square" lIns="0" tIns="0" rIns="0" bIns="0" rtlCol="0" anchor="ctr">
            <a:normAutofit/>
          </a:bodyPr>
          <a:lstStyle/>
          <a:p>
            <a:pPr marL="0" indent="0">
              <a:buNone/>
            </a:pPr>
            <a:r>
              <a:rPr lang="en-US" sz="1450"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Quyền quản trị cần được bảo vệ tại Firebase Rules, không chỉ bằng tùy chọn vai trò trên giao diện.</a:t>
            </a:r>
            <a:endParaRPr lang="en-US" sz="1450" dirty="0"/>
          </a:p>
        </p:txBody>
      </p:sp>
      <p:sp>
        <p:nvSpPr>
          <p:cNvPr id="30" name="Shape 26"/>
          <p:cNvSpPr/>
          <p:nvPr/>
        </p:nvSpPr>
        <p:spPr>
          <a:xfrm>
            <a:off x="667512" y="6473952"/>
            <a:ext cx="10835640" cy="0"/>
          </a:xfrm>
          <a:prstGeom prst="line">
            <a:avLst/>
          </a:prstGeom>
          <a:noFill/>
          <a:ln w="10160">
            <a:solidFill>
              <a:srgbClr val="D7E3EE"/>
            </a:solidFill>
            <a:prstDash val="solid"/>
          </a:ln>
        </p:spPr>
      </p:sp>
      <p:sp>
        <p:nvSpPr>
          <p:cNvPr id="31" name="Text 27"/>
          <p:cNvSpPr/>
          <p:nvPr/>
        </p:nvSpPr>
        <p:spPr>
          <a:xfrm>
            <a:off x="704088" y="6556248"/>
            <a:ext cx="9747504" cy="146304"/>
          </a:xfrm>
          <a:prstGeom prst="rect">
            <a:avLst/>
          </a:prstGeom>
          <a:noFill/>
        </p:spPr>
        <p:txBody>
          <a:bodyPr wrap="square" lIns="0" tIns="0" rIns="0" bIns="0" rtlCol="0" anchor="ctr">
            <a:normAutofit/>
          </a:bodyPr>
          <a:lstStyle/>
          <a:p>
            <a:pPr marL="0" indent="0">
              <a:buNone/>
            </a:pPr>
            <a:r>
              <a:rPr lang="en-US" sz="9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SMART LIBRARY  |  BÁO CÁO ĐỒ ÁN PHÁT TRIỂN ỨNG DỤNG DI ĐỘNG</a:t>
            </a:r>
            <a:endParaRPr lang="en-US" sz="950" dirty="0"/>
          </a:p>
        </p:txBody>
      </p:sp>
      <p:sp>
        <p:nvSpPr>
          <p:cNvPr id="32" name="Text 28"/>
          <p:cNvSpPr/>
          <p:nvPr/>
        </p:nvSpPr>
        <p:spPr>
          <a:xfrm>
            <a:off x="10753344" y="6528816"/>
            <a:ext cx="685800" cy="182880"/>
          </a:xfrm>
          <a:prstGeom prst="rect">
            <a:avLst/>
          </a:prstGeom>
          <a:noFill/>
        </p:spPr>
        <p:txBody>
          <a:bodyPr wrap="square" lIns="0" tIns="0" rIns="0" bIns="0" rtlCol="0" anchor="ctr">
            <a:normAutofit/>
          </a:bodyPr>
          <a:lstStyle/>
          <a:p>
            <a:pPr marL="0" indent="0" algn="r">
              <a:buNone/>
            </a:pPr>
            <a:r>
              <a:rPr lang="en-US" sz="105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5 / 10</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Shape 0"/>
          <p:cNvSpPr/>
          <p:nvPr/>
        </p:nvSpPr>
        <p:spPr>
          <a:xfrm>
            <a:off x="0" y="0"/>
            <a:ext cx="12191997" cy="100584"/>
          </a:xfrm>
          <a:prstGeom prst="rect">
            <a:avLst/>
          </a:prstGeom>
          <a:solidFill>
            <a:srgbClr val="1D5EA5"/>
          </a:solidFill>
          <a:ln w="12700">
            <a:solidFill>
              <a:srgbClr val="1D5EA5">
                <a:alpha val="0"/>
              </a:srgbClr>
            </a:solidFill>
            <a:prstDash val="solid"/>
          </a:ln>
        </p:spPr>
      </p:sp>
      <p:sp>
        <p:nvSpPr>
          <p:cNvPr id="3" name="Text 1"/>
          <p:cNvSpPr/>
          <p:nvPr/>
        </p:nvSpPr>
        <p:spPr>
          <a:xfrm>
            <a:off x="658368" y="310896"/>
            <a:ext cx="960120" cy="219456"/>
          </a:xfrm>
          <a:prstGeom prst="rect">
            <a:avLst/>
          </a:prstGeom>
          <a:noFill/>
        </p:spPr>
        <p:txBody>
          <a:bodyPr wrap="square" lIns="0" tIns="0" rIns="0" bIns="0" rtlCol="0" anchor="ctr">
            <a:normAutofit/>
          </a:bodyPr>
          <a:lstStyle/>
          <a:p>
            <a:pPr marL="0" indent="0">
              <a:buNone/>
            </a:pPr>
            <a:r>
              <a:rPr lang="en-US" sz="120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06 / 10</a:t>
            </a:r>
            <a:endParaRPr lang="en-US" sz="1200" dirty="0"/>
          </a:p>
        </p:txBody>
      </p:sp>
      <p:sp>
        <p:nvSpPr>
          <p:cNvPr id="4" name="Text 2"/>
          <p:cNvSpPr/>
          <p:nvPr/>
        </p:nvSpPr>
        <p:spPr>
          <a:xfrm>
            <a:off x="658368" y="649224"/>
            <a:ext cx="10927080" cy="484632"/>
          </a:xfrm>
          <a:prstGeom prst="rect">
            <a:avLst/>
          </a:prstGeom>
          <a:noFill/>
        </p:spPr>
        <p:txBody>
          <a:bodyPr wrap="square" lIns="0" tIns="0" rIns="0" bIns="0" rtlCol="0" anchor="ctr">
            <a:normAutofit/>
          </a:bodyPr>
          <a:lstStyle/>
          <a:p>
            <a:pPr marL="0" indent="0">
              <a:buNone/>
            </a:pPr>
            <a:r>
              <a:rPr lang="en-US" sz="2900" b="1" dirty="0">
                <a:solidFill>
                  <a:srgbClr val="132C4D"/>
                </a:solidFill>
                <a:latin typeface="Times New Roman" panose="02020603050405020304" pitchFamily="34" charset="0"/>
                <a:ea typeface="Times New Roman" panose="02020603050405020304" pitchFamily="34" charset="-122"/>
                <a:cs typeface="Times New Roman" panose="02020603050405020304" pitchFamily="34" charset="-120"/>
              </a:rPr>
              <a:t>TRANG CHỦ, TRA CỨU VÀ CHI TIẾT SÁCH</a:t>
            </a:r>
            <a:endParaRPr lang="en-US" sz="2900" dirty="0"/>
          </a:p>
        </p:txBody>
      </p:sp>
      <p:sp>
        <p:nvSpPr>
          <p:cNvPr id="5" name="Text 3"/>
          <p:cNvSpPr/>
          <p:nvPr/>
        </p:nvSpPr>
        <p:spPr>
          <a:xfrm>
            <a:off x="667512" y="1207008"/>
            <a:ext cx="10835640" cy="338328"/>
          </a:xfrm>
          <a:prstGeom prst="rect">
            <a:avLst/>
          </a:prstGeom>
          <a:noFill/>
        </p:spPr>
        <p:txBody>
          <a:bodyPr wrap="square" lIns="0" tIns="0" rIns="0" bIns="0" rtlCol="0" anchor="ctr">
            <a:normAutofit/>
          </a:bodyPr>
          <a:lstStyle/>
          <a:p>
            <a:pPr marL="0" indent="0">
              <a:buNone/>
            </a:pPr>
            <a:r>
              <a:rPr lang="en-US" sz="1450" i="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Luồng dành cho độc giả từ trang chủ tới danh mục và màn hình chi tiết.</a:t>
            </a:r>
            <a:endParaRPr lang="en-US" sz="1450" dirty="0"/>
          </a:p>
        </p:txBody>
      </p:sp>
      <p:sp>
        <p:nvSpPr>
          <p:cNvPr id="6" name="Shape 4"/>
          <p:cNvSpPr/>
          <p:nvPr/>
        </p:nvSpPr>
        <p:spPr>
          <a:xfrm>
            <a:off x="649224" y="1664208"/>
            <a:ext cx="10890504" cy="0"/>
          </a:xfrm>
          <a:prstGeom prst="line">
            <a:avLst/>
          </a:prstGeom>
          <a:noFill/>
          <a:ln w="13970">
            <a:solidFill>
              <a:srgbClr val="D7E3EE"/>
            </a:solidFill>
            <a:prstDash val="solid"/>
          </a:ln>
        </p:spPr>
      </p:sp>
      <p:sp>
        <p:nvSpPr>
          <p:cNvPr id="7" name="Shape 5"/>
          <p:cNvSpPr/>
          <p:nvPr/>
        </p:nvSpPr>
        <p:spPr>
          <a:xfrm>
            <a:off x="749808" y="1865376"/>
            <a:ext cx="2258568" cy="4370832"/>
          </a:xfrm>
          <a:prstGeom prst="roundRect">
            <a:avLst>
              <a:gd name="adj" fmla="val 4858"/>
            </a:avLst>
          </a:prstGeom>
          <a:solidFill>
            <a:srgbClr val="FFFFFF"/>
          </a:solidFill>
          <a:ln w="10795">
            <a:solidFill>
              <a:srgbClr val="CDDBEA"/>
            </a:solidFill>
            <a:prstDash val="solid"/>
          </a:ln>
        </p:spPr>
      </p:sp>
      <p:pic>
        <p:nvPicPr>
          <p:cNvPr id="8" name="Image 0" descr="/mnt/data/smart_work/figures/image12.png"/>
          <p:cNvPicPr>
            <a:picLocks noChangeAspect="1"/>
          </p:cNvPicPr>
          <p:nvPr/>
        </p:nvPicPr>
        <p:blipFill>
          <a:blip r:embed="rId1"/>
          <a:stretch>
            <a:fillRect/>
          </a:stretch>
        </p:blipFill>
        <p:spPr>
          <a:xfrm>
            <a:off x="831454" y="1929384"/>
            <a:ext cx="2095276" cy="4242816"/>
          </a:xfrm>
          <a:prstGeom prst="rect">
            <a:avLst/>
          </a:prstGeom>
        </p:spPr>
      </p:pic>
      <p:sp>
        <p:nvSpPr>
          <p:cNvPr id="9" name="Text 6"/>
          <p:cNvSpPr/>
          <p:nvPr/>
        </p:nvSpPr>
        <p:spPr>
          <a:xfrm>
            <a:off x="749808" y="6309360"/>
            <a:ext cx="2258568" cy="182880"/>
          </a:xfrm>
          <a:prstGeom prst="rect">
            <a:avLst/>
          </a:prstGeom>
          <a:noFill/>
        </p:spPr>
        <p:txBody>
          <a:bodyPr wrap="square" lIns="0" tIns="0" rIns="0" bIns="0" rtlCol="0" anchor="ctr">
            <a:normAutofit/>
          </a:bodyPr>
          <a:lstStyle/>
          <a:p>
            <a:pPr marL="0" indent="0" algn="ctr">
              <a:buNone/>
            </a:pPr>
            <a:r>
              <a:rPr lang="en-US" sz="1150" b="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Trang chủ: chọn chức năng</a:t>
            </a:r>
            <a:endParaRPr lang="en-US" sz="1150" dirty="0"/>
          </a:p>
        </p:txBody>
      </p:sp>
      <p:sp>
        <p:nvSpPr>
          <p:cNvPr id="10" name="Shape 7"/>
          <p:cNvSpPr/>
          <p:nvPr/>
        </p:nvSpPr>
        <p:spPr>
          <a:xfrm>
            <a:off x="3227832" y="1865376"/>
            <a:ext cx="2258568" cy="4370832"/>
          </a:xfrm>
          <a:prstGeom prst="roundRect">
            <a:avLst>
              <a:gd name="adj" fmla="val 4858"/>
            </a:avLst>
          </a:prstGeom>
          <a:solidFill>
            <a:srgbClr val="FFFFFF"/>
          </a:solidFill>
          <a:ln w="10795">
            <a:solidFill>
              <a:srgbClr val="CDDBEA"/>
            </a:solidFill>
            <a:prstDash val="solid"/>
          </a:ln>
        </p:spPr>
      </p:sp>
      <p:pic>
        <p:nvPicPr>
          <p:cNvPr id="11" name="Image 1" descr="/mnt/data/smart_work/figures/image14.png"/>
          <p:cNvPicPr>
            <a:picLocks noChangeAspect="1"/>
          </p:cNvPicPr>
          <p:nvPr/>
        </p:nvPicPr>
        <p:blipFill>
          <a:blip r:embed="rId2"/>
          <a:stretch>
            <a:fillRect/>
          </a:stretch>
        </p:blipFill>
        <p:spPr>
          <a:xfrm>
            <a:off x="3402926" y="1929384"/>
            <a:ext cx="1908380" cy="4242816"/>
          </a:xfrm>
          <a:prstGeom prst="rect">
            <a:avLst/>
          </a:prstGeom>
        </p:spPr>
      </p:pic>
      <p:sp>
        <p:nvSpPr>
          <p:cNvPr id="12" name="Text 8"/>
          <p:cNvSpPr/>
          <p:nvPr/>
        </p:nvSpPr>
        <p:spPr>
          <a:xfrm>
            <a:off x="3227832" y="6309360"/>
            <a:ext cx="2258568" cy="182880"/>
          </a:xfrm>
          <a:prstGeom prst="rect">
            <a:avLst/>
          </a:prstGeom>
          <a:noFill/>
        </p:spPr>
        <p:txBody>
          <a:bodyPr wrap="square" lIns="0" tIns="0" rIns="0" bIns="0" rtlCol="0" anchor="ctr">
            <a:normAutofit/>
          </a:bodyPr>
          <a:lstStyle/>
          <a:p>
            <a:pPr marL="0" indent="0" algn="ctr">
              <a:buNone/>
            </a:pPr>
            <a:r>
              <a:rPr lang="en-US" sz="1150" b="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Danh sách và tìm kiếm</a:t>
            </a:r>
            <a:endParaRPr lang="en-US" sz="1150" dirty="0"/>
          </a:p>
        </p:txBody>
      </p:sp>
      <p:sp>
        <p:nvSpPr>
          <p:cNvPr id="13" name="Shape 9"/>
          <p:cNvSpPr/>
          <p:nvPr/>
        </p:nvSpPr>
        <p:spPr>
          <a:xfrm>
            <a:off x="5797296" y="1956816"/>
            <a:ext cx="68580" cy="310896"/>
          </a:xfrm>
          <a:prstGeom prst="rect">
            <a:avLst/>
          </a:prstGeom>
          <a:solidFill>
            <a:srgbClr val="1D5EA5"/>
          </a:solidFill>
          <a:ln w="12700">
            <a:solidFill>
              <a:srgbClr val="1D5EA5">
                <a:alpha val="0"/>
              </a:srgbClr>
            </a:solidFill>
            <a:prstDash val="solid"/>
          </a:ln>
        </p:spPr>
      </p:sp>
      <p:sp>
        <p:nvSpPr>
          <p:cNvPr id="14" name="Text 10"/>
          <p:cNvSpPr/>
          <p:nvPr/>
        </p:nvSpPr>
        <p:spPr>
          <a:xfrm>
            <a:off x="5952744" y="1901952"/>
            <a:ext cx="5303520"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TRANG CHỦ</a:t>
            </a:r>
            <a:endParaRPr lang="en-US" sz="1650" dirty="0"/>
          </a:p>
        </p:txBody>
      </p:sp>
      <p:sp>
        <p:nvSpPr>
          <p:cNvPr id="15" name="Text 11"/>
          <p:cNvSpPr/>
          <p:nvPr/>
        </p:nvSpPr>
        <p:spPr>
          <a:xfrm>
            <a:off x="5961888" y="2249424"/>
            <a:ext cx="5257800" cy="484632"/>
          </a:xfrm>
          <a:prstGeom prst="rect">
            <a:avLst/>
          </a:prstGeom>
          <a:noFill/>
        </p:spPr>
        <p:txBody>
          <a:bodyPr wrap="square" lIns="0" tIns="0" rIns="0" bIns="0" rtlCol="0" anchor="t">
            <a:normAutofit/>
          </a:bodyPr>
          <a:lstStyle/>
          <a:p>
            <a:pPr marL="0" indent="0">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Truy cập nhanh đến tìm sách, quét mã, lịch sử mượn và thông tin tài khoản.</a:t>
            </a:r>
            <a:endParaRPr lang="en-US" sz="1550" dirty="0"/>
          </a:p>
        </p:txBody>
      </p:sp>
      <p:sp>
        <p:nvSpPr>
          <p:cNvPr id="16" name="Shape 12"/>
          <p:cNvSpPr/>
          <p:nvPr/>
        </p:nvSpPr>
        <p:spPr>
          <a:xfrm>
            <a:off x="5797296" y="2980944"/>
            <a:ext cx="68580" cy="310896"/>
          </a:xfrm>
          <a:prstGeom prst="rect">
            <a:avLst/>
          </a:prstGeom>
          <a:solidFill>
            <a:srgbClr val="1D5EA5"/>
          </a:solidFill>
          <a:ln w="12700">
            <a:solidFill>
              <a:srgbClr val="1D5EA5">
                <a:alpha val="0"/>
              </a:srgbClr>
            </a:solidFill>
            <a:prstDash val="solid"/>
          </a:ln>
        </p:spPr>
      </p:sp>
      <p:sp>
        <p:nvSpPr>
          <p:cNvPr id="17" name="Text 13"/>
          <p:cNvSpPr/>
          <p:nvPr/>
        </p:nvSpPr>
        <p:spPr>
          <a:xfrm>
            <a:off x="5952744" y="2926080"/>
            <a:ext cx="5303520"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TÌM KIẾM</a:t>
            </a:r>
            <a:endParaRPr lang="en-US" sz="1650" dirty="0"/>
          </a:p>
        </p:txBody>
      </p:sp>
      <p:sp>
        <p:nvSpPr>
          <p:cNvPr id="18" name="Text 14"/>
          <p:cNvSpPr/>
          <p:nvPr/>
        </p:nvSpPr>
        <p:spPr>
          <a:xfrm>
            <a:off x="5961888" y="3273552"/>
            <a:ext cx="5257800" cy="484632"/>
          </a:xfrm>
          <a:prstGeom prst="rect">
            <a:avLst/>
          </a:prstGeom>
          <a:noFill/>
        </p:spPr>
        <p:txBody>
          <a:bodyPr wrap="square" lIns="0" tIns="0" rIns="0" bIns="0" rtlCol="0" anchor="t">
            <a:normAutofit/>
          </a:bodyPr>
          <a:lstStyle/>
          <a:p>
            <a:pPr marL="0" indent="0">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Lọc danh sách theo tên sách, tác giả, thể loại, ISBN hoặc vị trí kệ.</a:t>
            </a:r>
            <a:endParaRPr lang="en-US" sz="1550" dirty="0"/>
          </a:p>
        </p:txBody>
      </p:sp>
      <p:sp>
        <p:nvSpPr>
          <p:cNvPr id="19" name="Shape 15"/>
          <p:cNvSpPr/>
          <p:nvPr/>
        </p:nvSpPr>
        <p:spPr>
          <a:xfrm>
            <a:off x="5797296" y="4005072"/>
            <a:ext cx="68580" cy="310896"/>
          </a:xfrm>
          <a:prstGeom prst="rect">
            <a:avLst/>
          </a:prstGeom>
          <a:solidFill>
            <a:srgbClr val="1D5EA5"/>
          </a:solidFill>
          <a:ln w="12700">
            <a:solidFill>
              <a:srgbClr val="1D5EA5">
                <a:alpha val="0"/>
              </a:srgbClr>
            </a:solidFill>
            <a:prstDash val="solid"/>
          </a:ln>
        </p:spPr>
      </p:sp>
      <p:sp>
        <p:nvSpPr>
          <p:cNvPr id="20" name="Text 16"/>
          <p:cNvSpPr/>
          <p:nvPr/>
        </p:nvSpPr>
        <p:spPr>
          <a:xfrm>
            <a:off x="5952744" y="3950208"/>
            <a:ext cx="5303520"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THÔNG TIN HIỂN THỊ</a:t>
            </a:r>
            <a:endParaRPr lang="en-US" sz="1650" dirty="0"/>
          </a:p>
        </p:txBody>
      </p:sp>
      <p:sp>
        <p:nvSpPr>
          <p:cNvPr id="21" name="Text 17"/>
          <p:cNvSpPr/>
          <p:nvPr/>
        </p:nvSpPr>
        <p:spPr>
          <a:xfrm>
            <a:off x="5961888" y="4297680"/>
            <a:ext cx="5257800" cy="484632"/>
          </a:xfrm>
          <a:prstGeom prst="rect">
            <a:avLst/>
          </a:prstGeom>
          <a:noFill/>
        </p:spPr>
        <p:txBody>
          <a:bodyPr wrap="square" lIns="0" tIns="0" rIns="0" bIns="0" rtlCol="0" anchor="t">
            <a:normAutofit/>
          </a:bodyPr>
          <a:lstStyle/>
          <a:p>
            <a:pPr marL="0" indent="0">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Thẻ sách cho biết tên, tác giả, vị trí và số lượng còn lại.</a:t>
            </a:r>
            <a:endParaRPr lang="en-US" sz="1550" dirty="0"/>
          </a:p>
        </p:txBody>
      </p:sp>
      <p:sp>
        <p:nvSpPr>
          <p:cNvPr id="22" name="Shape 18"/>
          <p:cNvSpPr/>
          <p:nvPr/>
        </p:nvSpPr>
        <p:spPr>
          <a:xfrm>
            <a:off x="5797296" y="5029200"/>
            <a:ext cx="68580" cy="310896"/>
          </a:xfrm>
          <a:prstGeom prst="rect">
            <a:avLst/>
          </a:prstGeom>
          <a:solidFill>
            <a:srgbClr val="1D5EA5"/>
          </a:solidFill>
          <a:ln w="12700">
            <a:solidFill>
              <a:srgbClr val="1D5EA5">
                <a:alpha val="0"/>
              </a:srgbClr>
            </a:solidFill>
            <a:prstDash val="solid"/>
          </a:ln>
        </p:spPr>
      </p:sp>
      <p:sp>
        <p:nvSpPr>
          <p:cNvPr id="23" name="Text 19"/>
          <p:cNvSpPr/>
          <p:nvPr/>
        </p:nvSpPr>
        <p:spPr>
          <a:xfrm>
            <a:off x="5952744" y="4974336"/>
            <a:ext cx="5303520"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XEM CHI TIẾT</a:t>
            </a:r>
            <a:endParaRPr lang="en-US" sz="1650" dirty="0"/>
          </a:p>
        </p:txBody>
      </p:sp>
      <p:sp>
        <p:nvSpPr>
          <p:cNvPr id="24" name="Text 20"/>
          <p:cNvSpPr/>
          <p:nvPr/>
        </p:nvSpPr>
        <p:spPr>
          <a:xfrm>
            <a:off x="5961888" y="5321808"/>
            <a:ext cx="5257800" cy="484632"/>
          </a:xfrm>
          <a:prstGeom prst="rect">
            <a:avLst/>
          </a:prstGeom>
          <a:noFill/>
        </p:spPr>
        <p:txBody>
          <a:bodyPr wrap="square" lIns="0" tIns="0" rIns="0" bIns="0" rtlCol="0" anchor="t">
            <a:normAutofit/>
          </a:bodyPr>
          <a:lstStyle/>
          <a:p>
            <a:pPr marL="0" indent="0">
              <a:buNone/>
            </a:pPr>
            <a:r>
              <a:rPr lang="en-US" sz="15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Chọn sách để chuyển sang /book-detail theo mã định danh sách.</a:t>
            </a:r>
            <a:endParaRPr lang="en-US" sz="1550" dirty="0"/>
          </a:p>
        </p:txBody>
      </p:sp>
      <p:sp>
        <p:nvSpPr>
          <p:cNvPr id="25" name="Shape 21"/>
          <p:cNvSpPr/>
          <p:nvPr/>
        </p:nvSpPr>
        <p:spPr>
          <a:xfrm>
            <a:off x="667512" y="6473952"/>
            <a:ext cx="10835640" cy="0"/>
          </a:xfrm>
          <a:prstGeom prst="line">
            <a:avLst/>
          </a:prstGeom>
          <a:noFill/>
          <a:ln w="10160">
            <a:solidFill>
              <a:srgbClr val="D7E3EE"/>
            </a:solidFill>
            <a:prstDash val="solid"/>
          </a:ln>
        </p:spPr>
      </p:sp>
      <p:sp>
        <p:nvSpPr>
          <p:cNvPr id="26" name="Text 22"/>
          <p:cNvSpPr/>
          <p:nvPr/>
        </p:nvSpPr>
        <p:spPr>
          <a:xfrm>
            <a:off x="704088" y="6556248"/>
            <a:ext cx="9747504" cy="146304"/>
          </a:xfrm>
          <a:prstGeom prst="rect">
            <a:avLst/>
          </a:prstGeom>
          <a:noFill/>
        </p:spPr>
        <p:txBody>
          <a:bodyPr wrap="square" lIns="0" tIns="0" rIns="0" bIns="0" rtlCol="0" anchor="ctr">
            <a:normAutofit/>
          </a:bodyPr>
          <a:lstStyle/>
          <a:p>
            <a:pPr marL="0" indent="0">
              <a:buNone/>
            </a:pPr>
            <a:r>
              <a:rPr lang="en-US" sz="9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SMART LIBRARY  |  BÁO CÁO ĐỒ ÁN PHÁT TRIỂN ỨNG DỤNG DI ĐỘNG</a:t>
            </a:r>
            <a:endParaRPr lang="en-US" sz="950" dirty="0"/>
          </a:p>
        </p:txBody>
      </p:sp>
      <p:sp>
        <p:nvSpPr>
          <p:cNvPr id="27" name="Text 23"/>
          <p:cNvSpPr/>
          <p:nvPr/>
        </p:nvSpPr>
        <p:spPr>
          <a:xfrm>
            <a:off x="10753344" y="6528816"/>
            <a:ext cx="685800" cy="182880"/>
          </a:xfrm>
          <a:prstGeom prst="rect">
            <a:avLst/>
          </a:prstGeom>
          <a:noFill/>
        </p:spPr>
        <p:txBody>
          <a:bodyPr wrap="square" lIns="0" tIns="0" rIns="0" bIns="0" rtlCol="0" anchor="ctr">
            <a:normAutofit/>
          </a:bodyPr>
          <a:lstStyle/>
          <a:p>
            <a:pPr marL="0" indent="0" algn="r">
              <a:buNone/>
            </a:pPr>
            <a:r>
              <a:rPr lang="en-US" sz="105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6 / 10</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Shape 0"/>
          <p:cNvSpPr/>
          <p:nvPr/>
        </p:nvSpPr>
        <p:spPr>
          <a:xfrm>
            <a:off x="0" y="0"/>
            <a:ext cx="12191997" cy="100584"/>
          </a:xfrm>
          <a:prstGeom prst="rect">
            <a:avLst/>
          </a:prstGeom>
          <a:solidFill>
            <a:srgbClr val="1D5EA5"/>
          </a:solidFill>
          <a:ln w="12700">
            <a:solidFill>
              <a:srgbClr val="1D5EA5">
                <a:alpha val="0"/>
              </a:srgbClr>
            </a:solidFill>
            <a:prstDash val="solid"/>
          </a:ln>
        </p:spPr>
      </p:sp>
      <p:sp>
        <p:nvSpPr>
          <p:cNvPr id="3" name="Text 1"/>
          <p:cNvSpPr/>
          <p:nvPr/>
        </p:nvSpPr>
        <p:spPr>
          <a:xfrm>
            <a:off x="658368" y="310896"/>
            <a:ext cx="960120" cy="219456"/>
          </a:xfrm>
          <a:prstGeom prst="rect">
            <a:avLst/>
          </a:prstGeom>
          <a:noFill/>
        </p:spPr>
        <p:txBody>
          <a:bodyPr wrap="square" lIns="0" tIns="0" rIns="0" bIns="0" rtlCol="0" anchor="ctr">
            <a:normAutofit/>
          </a:bodyPr>
          <a:lstStyle/>
          <a:p>
            <a:pPr marL="0" indent="0">
              <a:buNone/>
            </a:pPr>
            <a:r>
              <a:rPr lang="en-US" sz="120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07 / 10</a:t>
            </a:r>
            <a:endParaRPr lang="en-US" sz="1200" dirty="0"/>
          </a:p>
        </p:txBody>
      </p:sp>
      <p:sp>
        <p:nvSpPr>
          <p:cNvPr id="4" name="Text 2"/>
          <p:cNvSpPr/>
          <p:nvPr/>
        </p:nvSpPr>
        <p:spPr>
          <a:xfrm>
            <a:off x="658368" y="649224"/>
            <a:ext cx="10927080" cy="484632"/>
          </a:xfrm>
          <a:prstGeom prst="rect">
            <a:avLst/>
          </a:prstGeom>
          <a:noFill/>
        </p:spPr>
        <p:txBody>
          <a:bodyPr wrap="square" lIns="0" tIns="0" rIns="0" bIns="0" rtlCol="0" anchor="ctr">
            <a:normAutofit/>
          </a:bodyPr>
          <a:lstStyle/>
          <a:p>
            <a:pPr marL="0" indent="0">
              <a:buNone/>
            </a:pPr>
            <a:r>
              <a:rPr lang="en-US" sz="2900" b="1" dirty="0">
                <a:solidFill>
                  <a:srgbClr val="132C4D"/>
                </a:solidFill>
                <a:latin typeface="Times New Roman" panose="02020603050405020304" pitchFamily="34" charset="0"/>
                <a:ea typeface="Times New Roman" panose="02020603050405020304" pitchFamily="34" charset="-122"/>
                <a:cs typeface="Times New Roman" panose="02020603050405020304" pitchFamily="34" charset="-120"/>
              </a:rPr>
              <a:t>MƯỢN SÁCH, TRẢ SÁCH VÀ LỊCH SỬ</a:t>
            </a:r>
            <a:endParaRPr lang="en-US" sz="2900" dirty="0"/>
          </a:p>
        </p:txBody>
      </p:sp>
      <p:sp>
        <p:nvSpPr>
          <p:cNvPr id="5" name="Text 3"/>
          <p:cNvSpPr/>
          <p:nvPr/>
        </p:nvSpPr>
        <p:spPr>
          <a:xfrm>
            <a:off x="667512" y="1207008"/>
            <a:ext cx="10835640" cy="338328"/>
          </a:xfrm>
          <a:prstGeom prst="rect">
            <a:avLst/>
          </a:prstGeom>
          <a:noFill/>
        </p:spPr>
        <p:txBody>
          <a:bodyPr wrap="square" lIns="0" tIns="0" rIns="0" bIns="0" rtlCol="0" anchor="ctr">
            <a:normAutofit/>
          </a:bodyPr>
          <a:lstStyle/>
          <a:p>
            <a:pPr marL="0" indent="0">
              <a:buNone/>
            </a:pPr>
            <a:r>
              <a:rPr lang="en-US" sz="1450" i="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Hai nghiệp vụ trọng tâm gắn với dữ liệu tồn kho và trạng thái giao dịch.</a:t>
            </a:r>
            <a:endParaRPr lang="en-US" sz="1450" dirty="0"/>
          </a:p>
        </p:txBody>
      </p:sp>
      <p:sp>
        <p:nvSpPr>
          <p:cNvPr id="6" name="Shape 4"/>
          <p:cNvSpPr/>
          <p:nvPr/>
        </p:nvSpPr>
        <p:spPr>
          <a:xfrm>
            <a:off x="649224" y="1664208"/>
            <a:ext cx="10890504" cy="0"/>
          </a:xfrm>
          <a:prstGeom prst="line">
            <a:avLst/>
          </a:prstGeom>
          <a:noFill/>
          <a:ln w="13970">
            <a:solidFill>
              <a:srgbClr val="D7E3EE"/>
            </a:solidFill>
            <a:prstDash val="solid"/>
          </a:ln>
        </p:spPr>
      </p:sp>
      <p:sp>
        <p:nvSpPr>
          <p:cNvPr id="7" name="Shape 5"/>
          <p:cNvSpPr/>
          <p:nvPr/>
        </p:nvSpPr>
        <p:spPr>
          <a:xfrm>
            <a:off x="758952" y="1874520"/>
            <a:ext cx="2221992" cy="4361688"/>
          </a:xfrm>
          <a:prstGeom prst="roundRect">
            <a:avLst>
              <a:gd name="adj" fmla="val 4938"/>
            </a:avLst>
          </a:prstGeom>
          <a:solidFill>
            <a:srgbClr val="FFFFFF"/>
          </a:solidFill>
          <a:ln w="10795">
            <a:solidFill>
              <a:srgbClr val="CDDBEA"/>
            </a:solidFill>
            <a:prstDash val="solid"/>
          </a:ln>
        </p:spPr>
      </p:sp>
      <p:pic>
        <p:nvPicPr>
          <p:cNvPr id="8" name="Image 0" descr="/mnt/data/smart_work/figures/image15.png"/>
          <p:cNvPicPr>
            <a:picLocks noChangeAspect="1"/>
          </p:cNvPicPr>
          <p:nvPr/>
        </p:nvPicPr>
        <p:blipFill>
          <a:blip r:embed="rId1"/>
          <a:stretch>
            <a:fillRect/>
          </a:stretch>
        </p:blipFill>
        <p:spPr>
          <a:xfrm>
            <a:off x="921665" y="1938528"/>
            <a:ext cx="1896566" cy="4233672"/>
          </a:xfrm>
          <a:prstGeom prst="rect">
            <a:avLst/>
          </a:prstGeom>
        </p:spPr>
      </p:pic>
      <p:sp>
        <p:nvSpPr>
          <p:cNvPr id="9" name="Text 6"/>
          <p:cNvSpPr/>
          <p:nvPr/>
        </p:nvSpPr>
        <p:spPr>
          <a:xfrm>
            <a:off x="758952" y="6309360"/>
            <a:ext cx="2221992" cy="182880"/>
          </a:xfrm>
          <a:prstGeom prst="rect">
            <a:avLst/>
          </a:prstGeom>
          <a:noFill/>
        </p:spPr>
        <p:txBody>
          <a:bodyPr wrap="square" lIns="0" tIns="0" rIns="0" bIns="0" rtlCol="0" anchor="ctr">
            <a:normAutofit/>
          </a:bodyPr>
          <a:lstStyle/>
          <a:p>
            <a:pPr marL="0" indent="0" algn="ctr">
              <a:buNone/>
            </a:pPr>
            <a:r>
              <a:rPr lang="en-US" sz="1150" b="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Phản hồi yêu cầu mượn</a:t>
            </a:r>
            <a:endParaRPr lang="en-US" sz="1150" dirty="0"/>
          </a:p>
        </p:txBody>
      </p:sp>
      <p:sp>
        <p:nvSpPr>
          <p:cNvPr id="10" name="Shape 7"/>
          <p:cNvSpPr/>
          <p:nvPr/>
        </p:nvSpPr>
        <p:spPr>
          <a:xfrm>
            <a:off x="3218688" y="1874520"/>
            <a:ext cx="2221992" cy="4361688"/>
          </a:xfrm>
          <a:prstGeom prst="roundRect">
            <a:avLst>
              <a:gd name="adj" fmla="val 4938"/>
            </a:avLst>
          </a:prstGeom>
          <a:solidFill>
            <a:srgbClr val="FFFFFF"/>
          </a:solidFill>
          <a:ln w="10795">
            <a:solidFill>
              <a:srgbClr val="CDDBEA"/>
            </a:solidFill>
            <a:prstDash val="solid"/>
          </a:ln>
        </p:spPr>
      </p:sp>
      <p:pic>
        <p:nvPicPr>
          <p:cNvPr id="11" name="Image 1" descr="/mnt/data/smart_work/figures/image16.png"/>
          <p:cNvPicPr>
            <a:picLocks noChangeAspect="1"/>
          </p:cNvPicPr>
          <p:nvPr/>
        </p:nvPicPr>
        <p:blipFill>
          <a:blip r:embed="rId2"/>
          <a:stretch>
            <a:fillRect/>
          </a:stretch>
        </p:blipFill>
        <p:spPr>
          <a:xfrm>
            <a:off x="3380510" y="1938528"/>
            <a:ext cx="1898347" cy="4233672"/>
          </a:xfrm>
          <a:prstGeom prst="rect">
            <a:avLst/>
          </a:prstGeom>
        </p:spPr>
      </p:pic>
      <p:sp>
        <p:nvSpPr>
          <p:cNvPr id="12" name="Text 8"/>
          <p:cNvSpPr/>
          <p:nvPr/>
        </p:nvSpPr>
        <p:spPr>
          <a:xfrm>
            <a:off x="3218688" y="6309360"/>
            <a:ext cx="2221992" cy="182880"/>
          </a:xfrm>
          <a:prstGeom prst="rect">
            <a:avLst/>
          </a:prstGeom>
          <a:noFill/>
        </p:spPr>
        <p:txBody>
          <a:bodyPr wrap="square" lIns="0" tIns="0" rIns="0" bIns="0" rtlCol="0" anchor="ctr">
            <a:normAutofit/>
          </a:bodyPr>
          <a:lstStyle/>
          <a:p>
            <a:pPr marL="0" indent="0" algn="ctr">
              <a:buNone/>
            </a:pPr>
            <a:r>
              <a:rPr lang="en-US" sz="1150" b="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Lịch sử đang mượn / đã trả</a:t>
            </a:r>
            <a:endParaRPr lang="en-US" sz="1150" dirty="0"/>
          </a:p>
        </p:txBody>
      </p:sp>
      <p:sp>
        <p:nvSpPr>
          <p:cNvPr id="13" name="Shape 9"/>
          <p:cNvSpPr/>
          <p:nvPr/>
        </p:nvSpPr>
        <p:spPr>
          <a:xfrm>
            <a:off x="5788152" y="1956816"/>
            <a:ext cx="68580" cy="310896"/>
          </a:xfrm>
          <a:prstGeom prst="rect">
            <a:avLst/>
          </a:prstGeom>
          <a:solidFill>
            <a:srgbClr val="1D5EA5"/>
          </a:solidFill>
          <a:ln w="12700">
            <a:solidFill>
              <a:srgbClr val="1D5EA5">
                <a:alpha val="0"/>
              </a:srgbClr>
            </a:solidFill>
            <a:prstDash val="solid"/>
          </a:ln>
        </p:spPr>
      </p:sp>
      <p:sp>
        <p:nvSpPr>
          <p:cNvPr id="14" name="Text 10"/>
          <p:cNvSpPr/>
          <p:nvPr/>
        </p:nvSpPr>
        <p:spPr>
          <a:xfrm>
            <a:off x="5943600" y="1901952"/>
            <a:ext cx="5321808"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BƯỚC 1</a:t>
            </a:r>
            <a:endParaRPr lang="en-US" sz="1650" dirty="0"/>
          </a:p>
        </p:txBody>
      </p:sp>
      <p:sp>
        <p:nvSpPr>
          <p:cNvPr id="15" name="Text 11"/>
          <p:cNvSpPr/>
          <p:nvPr/>
        </p:nvSpPr>
        <p:spPr>
          <a:xfrm>
            <a:off x="5952744" y="2249424"/>
            <a:ext cx="5276088" cy="484632"/>
          </a:xfrm>
          <a:prstGeom prst="rect">
            <a:avLst/>
          </a:prstGeom>
          <a:noFill/>
        </p:spPr>
        <p:txBody>
          <a:bodyPr wrap="square" lIns="0" tIns="0" rIns="0" bIns="0" rtlCol="0" anchor="t">
            <a:normAutofit/>
          </a:bodyPr>
          <a:lstStyle/>
          <a:p>
            <a:pPr marL="0" indent="0">
              <a:buNone/>
            </a:pPr>
            <a:r>
              <a:rPr lang="en-US" sz="153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Độc giả chọn sách và số lượng muốn mượn.</a:t>
            </a:r>
            <a:endParaRPr lang="en-US" sz="1530" dirty="0"/>
          </a:p>
        </p:txBody>
      </p:sp>
      <p:sp>
        <p:nvSpPr>
          <p:cNvPr id="16" name="Shape 12"/>
          <p:cNvSpPr/>
          <p:nvPr/>
        </p:nvSpPr>
        <p:spPr>
          <a:xfrm>
            <a:off x="5788152" y="2944368"/>
            <a:ext cx="68580" cy="310896"/>
          </a:xfrm>
          <a:prstGeom prst="rect">
            <a:avLst/>
          </a:prstGeom>
          <a:solidFill>
            <a:srgbClr val="168A79"/>
          </a:solidFill>
          <a:ln w="12700">
            <a:solidFill>
              <a:srgbClr val="168A79">
                <a:alpha val="0"/>
              </a:srgbClr>
            </a:solidFill>
            <a:prstDash val="solid"/>
          </a:ln>
        </p:spPr>
      </p:sp>
      <p:sp>
        <p:nvSpPr>
          <p:cNvPr id="17" name="Text 13"/>
          <p:cNvSpPr/>
          <p:nvPr/>
        </p:nvSpPr>
        <p:spPr>
          <a:xfrm>
            <a:off x="5943600" y="2889504"/>
            <a:ext cx="5321808"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BƯỚC 2</a:t>
            </a:r>
            <a:endParaRPr lang="en-US" sz="1650" dirty="0"/>
          </a:p>
        </p:txBody>
      </p:sp>
      <p:sp>
        <p:nvSpPr>
          <p:cNvPr id="18" name="Text 14"/>
          <p:cNvSpPr/>
          <p:nvPr/>
        </p:nvSpPr>
        <p:spPr>
          <a:xfrm>
            <a:off x="5952744" y="3236976"/>
            <a:ext cx="5276088" cy="484632"/>
          </a:xfrm>
          <a:prstGeom prst="rect">
            <a:avLst/>
          </a:prstGeom>
          <a:noFill/>
        </p:spPr>
        <p:txBody>
          <a:bodyPr wrap="square" lIns="0" tIns="0" rIns="0" bIns="0" rtlCol="0" anchor="t">
            <a:normAutofit/>
          </a:bodyPr>
          <a:lstStyle/>
          <a:p>
            <a:pPr marL="0" indent="0">
              <a:buNone/>
            </a:pPr>
            <a:r>
              <a:rPr lang="en-US" sz="153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borrowBook(bookId, quantity) kiểm tra dữ liệu và ghi yêu cầu.</a:t>
            </a:r>
            <a:endParaRPr lang="en-US" sz="1530" dirty="0"/>
          </a:p>
        </p:txBody>
      </p:sp>
      <p:sp>
        <p:nvSpPr>
          <p:cNvPr id="19" name="Shape 15"/>
          <p:cNvSpPr/>
          <p:nvPr/>
        </p:nvSpPr>
        <p:spPr>
          <a:xfrm>
            <a:off x="5788152" y="3931920"/>
            <a:ext cx="68580" cy="310896"/>
          </a:xfrm>
          <a:prstGeom prst="rect">
            <a:avLst/>
          </a:prstGeom>
          <a:solidFill>
            <a:srgbClr val="1D5EA5"/>
          </a:solidFill>
          <a:ln w="12700">
            <a:solidFill>
              <a:srgbClr val="1D5EA5">
                <a:alpha val="0"/>
              </a:srgbClr>
            </a:solidFill>
            <a:prstDash val="solid"/>
          </a:ln>
        </p:spPr>
      </p:sp>
      <p:sp>
        <p:nvSpPr>
          <p:cNvPr id="20" name="Text 16"/>
          <p:cNvSpPr/>
          <p:nvPr/>
        </p:nvSpPr>
        <p:spPr>
          <a:xfrm>
            <a:off x="5943600" y="3877056"/>
            <a:ext cx="5321808"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BƯỚC 3</a:t>
            </a:r>
            <a:endParaRPr lang="en-US" sz="1650" dirty="0"/>
          </a:p>
        </p:txBody>
      </p:sp>
      <p:sp>
        <p:nvSpPr>
          <p:cNvPr id="21" name="Text 17"/>
          <p:cNvSpPr/>
          <p:nvPr/>
        </p:nvSpPr>
        <p:spPr>
          <a:xfrm>
            <a:off x="5952744" y="4224528"/>
            <a:ext cx="5276088" cy="484632"/>
          </a:xfrm>
          <a:prstGeom prst="rect">
            <a:avLst/>
          </a:prstGeom>
          <a:noFill/>
        </p:spPr>
        <p:txBody>
          <a:bodyPr wrap="square" lIns="0" tIns="0" rIns="0" bIns="0" rtlCol="0" anchor="t">
            <a:normAutofit/>
          </a:bodyPr>
          <a:lstStyle/>
          <a:p>
            <a:pPr marL="0" indent="0">
              <a:buNone/>
            </a:pPr>
            <a:r>
              <a:rPr lang="en-US" sz="153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Cập nhật tồn kho và bản ghi mượn trong Realtime Database.</a:t>
            </a:r>
            <a:endParaRPr lang="en-US" sz="1530" dirty="0"/>
          </a:p>
        </p:txBody>
      </p:sp>
      <p:sp>
        <p:nvSpPr>
          <p:cNvPr id="22" name="Shape 18"/>
          <p:cNvSpPr/>
          <p:nvPr/>
        </p:nvSpPr>
        <p:spPr>
          <a:xfrm>
            <a:off x="5788152" y="4919472"/>
            <a:ext cx="68580" cy="310896"/>
          </a:xfrm>
          <a:prstGeom prst="rect">
            <a:avLst/>
          </a:prstGeom>
          <a:solidFill>
            <a:srgbClr val="168A79"/>
          </a:solidFill>
          <a:ln w="12700">
            <a:solidFill>
              <a:srgbClr val="168A79">
                <a:alpha val="0"/>
              </a:srgbClr>
            </a:solidFill>
            <a:prstDash val="solid"/>
          </a:ln>
        </p:spPr>
      </p:sp>
      <p:sp>
        <p:nvSpPr>
          <p:cNvPr id="23" name="Text 19"/>
          <p:cNvSpPr/>
          <p:nvPr/>
        </p:nvSpPr>
        <p:spPr>
          <a:xfrm>
            <a:off x="5943600" y="4864608"/>
            <a:ext cx="5321808"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BƯỚC 4</a:t>
            </a:r>
            <a:endParaRPr lang="en-US" sz="1650" dirty="0"/>
          </a:p>
        </p:txBody>
      </p:sp>
      <p:sp>
        <p:nvSpPr>
          <p:cNvPr id="24" name="Text 20"/>
          <p:cNvSpPr/>
          <p:nvPr/>
        </p:nvSpPr>
        <p:spPr>
          <a:xfrm>
            <a:off x="5952744" y="5212080"/>
            <a:ext cx="5276088" cy="484632"/>
          </a:xfrm>
          <a:prstGeom prst="rect">
            <a:avLst/>
          </a:prstGeom>
          <a:noFill/>
        </p:spPr>
        <p:txBody>
          <a:bodyPr wrap="square" lIns="0" tIns="0" rIns="0" bIns="0" rtlCol="0" anchor="t">
            <a:normAutofit/>
          </a:bodyPr>
          <a:lstStyle/>
          <a:p>
            <a:pPr marL="0" indent="0">
              <a:buNone/>
            </a:pPr>
            <a:r>
              <a:rPr lang="en-US" sz="153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returnBook() xử lý hoàn trả; lịch sử thể hiện trạng thái và ngày trả.</a:t>
            </a:r>
            <a:endParaRPr lang="en-US" sz="1530" dirty="0"/>
          </a:p>
        </p:txBody>
      </p:sp>
      <p:sp>
        <p:nvSpPr>
          <p:cNvPr id="25" name="Shape 21"/>
          <p:cNvSpPr/>
          <p:nvPr/>
        </p:nvSpPr>
        <p:spPr>
          <a:xfrm>
            <a:off x="5797296" y="5925312"/>
            <a:ext cx="5468112" cy="329184"/>
          </a:xfrm>
          <a:prstGeom prst="roundRect">
            <a:avLst>
              <a:gd name="adj" fmla="val 33333"/>
            </a:avLst>
          </a:prstGeom>
          <a:solidFill>
            <a:srgbClr val="FFF5E5"/>
          </a:solidFill>
          <a:ln w="10795">
            <a:solidFill>
              <a:srgbClr val="FFF5E5"/>
            </a:solidFill>
            <a:prstDash val="solid"/>
          </a:ln>
        </p:spPr>
      </p:sp>
      <p:sp>
        <p:nvSpPr>
          <p:cNvPr id="26" name="Text 22"/>
          <p:cNvSpPr/>
          <p:nvPr/>
        </p:nvSpPr>
        <p:spPr>
          <a:xfrm>
            <a:off x="5907024" y="5998464"/>
            <a:ext cx="5266944" cy="173736"/>
          </a:xfrm>
          <a:prstGeom prst="rect">
            <a:avLst/>
          </a:prstGeom>
          <a:noFill/>
        </p:spPr>
        <p:txBody>
          <a:bodyPr wrap="square" lIns="0" tIns="0" rIns="0" bIns="0" rtlCol="0" anchor="ctr">
            <a:normAutofit/>
          </a:bodyPr>
          <a:lstStyle/>
          <a:p>
            <a:pPr marL="0" indent="0">
              <a:buNone/>
            </a:pPr>
            <a:r>
              <a:rPr lang="en-US" sz="1240" b="1" dirty="0">
                <a:solidFill>
                  <a:srgbClr val="A96620"/>
                </a:solidFill>
                <a:latin typeface="Times New Roman" panose="02020603050405020304" pitchFamily="34" charset="0"/>
                <a:ea typeface="Times New Roman" panose="02020603050405020304" pitchFamily="34" charset="-122"/>
                <a:cs typeface="Times New Roman" panose="02020603050405020304" pitchFamily="34" charset="-120"/>
              </a:rPr>
              <a:t>Cần kiểm thử mượn đồng thời, trừ tồn kho và chống gửi yêu cầu trùng.</a:t>
            </a:r>
            <a:endParaRPr lang="en-US" sz="1240" dirty="0"/>
          </a:p>
        </p:txBody>
      </p:sp>
      <p:sp>
        <p:nvSpPr>
          <p:cNvPr id="27" name="Shape 23"/>
          <p:cNvSpPr/>
          <p:nvPr/>
        </p:nvSpPr>
        <p:spPr>
          <a:xfrm>
            <a:off x="667512" y="6473952"/>
            <a:ext cx="10835640" cy="0"/>
          </a:xfrm>
          <a:prstGeom prst="line">
            <a:avLst/>
          </a:prstGeom>
          <a:noFill/>
          <a:ln w="10160">
            <a:solidFill>
              <a:srgbClr val="D7E3EE"/>
            </a:solidFill>
            <a:prstDash val="solid"/>
          </a:ln>
        </p:spPr>
      </p:sp>
      <p:sp>
        <p:nvSpPr>
          <p:cNvPr id="28" name="Text 24"/>
          <p:cNvSpPr/>
          <p:nvPr/>
        </p:nvSpPr>
        <p:spPr>
          <a:xfrm>
            <a:off x="704088" y="6556248"/>
            <a:ext cx="9747504" cy="146304"/>
          </a:xfrm>
          <a:prstGeom prst="rect">
            <a:avLst/>
          </a:prstGeom>
          <a:noFill/>
        </p:spPr>
        <p:txBody>
          <a:bodyPr wrap="square" lIns="0" tIns="0" rIns="0" bIns="0" rtlCol="0" anchor="ctr">
            <a:normAutofit/>
          </a:bodyPr>
          <a:lstStyle/>
          <a:p>
            <a:pPr marL="0" indent="0">
              <a:buNone/>
            </a:pPr>
            <a:r>
              <a:rPr lang="en-US" sz="9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SMART LIBRARY  |  BÁO CÁO ĐỒ ÁN PHÁT TRIỂN ỨNG DỤNG DI ĐỘNG</a:t>
            </a:r>
            <a:endParaRPr lang="en-US" sz="950" dirty="0"/>
          </a:p>
        </p:txBody>
      </p:sp>
      <p:sp>
        <p:nvSpPr>
          <p:cNvPr id="29" name="Text 25"/>
          <p:cNvSpPr/>
          <p:nvPr/>
        </p:nvSpPr>
        <p:spPr>
          <a:xfrm>
            <a:off x="10753344" y="6528816"/>
            <a:ext cx="685800" cy="182880"/>
          </a:xfrm>
          <a:prstGeom prst="rect">
            <a:avLst/>
          </a:prstGeom>
          <a:noFill/>
        </p:spPr>
        <p:txBody>
          <a:bodyPr wrap="square" lIns="0" tIns="0" rIns="0" bIns="0" rtlCol="0" anchor="ctr">
            <a:normAutofit/>
          </a:bodyPr>
          <a:lstStyle/>
          <a:p>
            <a:pPr marL="0" indent="0" algn="r">
              <a:buNone/>
            </a:pPr>
            <a:r>
              <a:rPr lang="en-US" sz="105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7 / 10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Shape 0"/>
          <p:cNvSpPr/>
          <p:nvPr/>
        </p:nvSpPr>
        <p:spPr>
          <a:xfrm>
            <a:off x="0" y="0"/>
            <a:ext cx="12191997" cy="100584"/>
          </a:xfrm>
          <a:prstGeom prst="rect">
            <a:avLst/>
          </a:prstGeom>
          <a:solidFill>
            <a:srgbClr val="1D5EA5"/>
          </a:solidFill>
          <a:ln w="12700">
            <a:solidFill>
              <a:srgbClr val="1D5EA5">
                <a:alpha val="0"/>
              </a:srgbClr>
            </a:solidFill>
            <a:prstDash val="solid"/>
          </a:ln>
        </p:spPr>
      </p:sp>
      <p:sp>
        <p:nvSpPr>
          <p:cNvPr id="3" name="Text 1"/>
          <p:cNvSpPr/>
          <p:nvPr/>
        </p:nvSpPr>
        <p:spPr>
          <a:xfrm>
            <a:off x="658368" y="310896"/>
            <a:ext cx="960120" cy="219456"/>
          </a:xfrm>
          <a:prstGeom prst="rect">
            <a:avLst/>
          </a:prstGeom>
          <a:noFill/>
        </p:spPr>
        <p:txBody>
          <a:bodyPr wrap="square" lIns="0" tIns="0" rIns="0" bIns="0" rtlCol="0" anchor="ctr">
            <a:normAutofit/>
          </a:bodyPr>
          <a:lstStyle/>
          <a:p>
            <a:pPr marL="0" indent="0">
              <a:buNone/>
            </a:pPr>
            <a:r>
              <a:rPr lang="en-US" sz="120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08 / 10</a:t>
            </a:r>
            <a:endParaRPr lang="en-US" sz="1200" dirty="0"/>
          </a:p>
        </p:txBody>
      </p:sp>
      <p:sp>
        <p:nvSpPr>
          <p:cNvPr id="4" name="Text 2"/>
          <p:cNvSpPr/>
          <p:nvPr/>
        </p:nvSpPr>
        <p:spPr>
          <a:xfrm>
            <a:off x="658368" y="649224"/>
            <a:ext cx="10927080" cy="484632"/>
          </a:xfrm>
          <a:prstGeom prst="rect">
            <a:avLst/>
          </a:prstGeom>
          <a:noFill/>
        </p:spPr>
        <p:txBody>
          <a:bodyPr wrap="square" lIns="0" tIns="0" rIns="0" bIns="0" rtlCol="0" anchor="ctr">
            <a:normAutofit/>
          </a:bodyPr>
          <a:lstStyle/>
          <a:p>
            <a:pPr marL="0" indent="0">
              <a:buNone/>
            </a:pPr>
            <a:r>
              <a:rPr lang="en-US" sz="2900" b="1" dirty="0">
                <a:solidFill>
                  <a:srgbClr val="132C4D"/>
                </a:solidFill>
                <a:latin typeface="Times New Roman" panose="02020603050405020304" pitchFamily="34" charset="0"/>
                <a:ea typeface="Times New Roman" panose="02020603050405020304" pitchFamily="34" charset="-122"/>
                <a:cs typeface="Times New Roman" panose="02020603050405020304" pitchFamily="34" charset="-120"/>
              </a:rPr>
              <a:t>QUÉT MÃ SÁCH BẰNG CAMERA</a:t>
            </a:r>
            <a:endParaRPr lang="en-US" sz="2900" dirty="0"/>
          </a:p>
        </p:txBody>
      </p:sp>
      <p:sp>
        <p:nvSpPr>
          <p:cNvPr id="5" name="Text 3"/>
          <p:cNvSpPr/>
          <p:nvPr/>
        </p:nvSpPr>
        <p:spPr>
          <a:xfrm>
            <a:off x="667512" y="1207008"/>
            <a:ext cx="10835640" cy="338328"/>
          </a:xfrm>
          <a:prstGeom prst="rect">
            <a:avLst/>
          </a:prstGeom>
          <a:noFill/>
        </p:spPr>
        <p:txBody>
          <a:bodyPr wrap="square" lIns="0" tIns="0" rIns="0" bIns="0" rtlCol="0" anchor="ctr">
            <a:normAutofit/>
          </a:bodyPr>
          <a:lstStyle/>
          <a:p>
            <a:pPr marL="0" indent="0">
              <a:buNone/>
            </a:pPr>
            <a:r>
              <a:rPr lang="en-US" sz="1450" i="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Tăng tốc tra cứu và hỗ trợ thao tác mượn qua barcode/QR trong ứng dụng.</a:t>
            </a:r>
            <a:endParaRPr lang="en-US" sz="1450" dirty="0"/>
          </a:p>
        </p:txBody>
      </p:sp>
      <p:sp>
        <p:nvSpPr>
          <p:cNvPr id="6" name="Shape 4"/>
          <p:cNvSpPr/>
          <p:nvPr/>
        </p:nvSpPr>
        <p:spPr>
          <a:xfrm>
            <a:off x="649224" y="1664208"/>
            <a:ext cx="10890504" cy="0"/>
          </a:xfrm>
          <a:prstGeom prst="line">
            <a:avLst/>
          </a:prstGeom>
          <a:noFill/>
          <a:ln w="13970">
            <a:solidFill>
              <a:srgbClr val="D7E3EE"/>
            </a:solidFill>
            <a:prstDash val="solid"/>
          </a:ln>
        </p:spPr>
      </p:sp>
      <p:sp>
        <p:nvSpPr>
          <p:cNvPr id="7" name="Shape 5"/>
          <p:cNvSpPr/>
          <p:nvPr/>
        </p:nvSpPr>
        <p:spPr>
          <a:xfrm>
            <a:off x="749808" y="1837944"/>
            <a:ext cx="2825496" cy="4462272"/>
          </a:xfrm>
          <a:prstGeom prst="roundRect">
            <a:avLst>
              <a:gd name="adj" fmla="val 3883"/>
            </a:avLst>
          </a:prstGeom>
          <a:solidFill>
            <a:srgbClr val="FFFFFF"/>
          </a:solidFill>
          <a:ln w="10795">
            <a:solidFill>
              <a:srgbClr val="CDDBEA"/>
            </a:solidFill>
            <a:prstDash val="solid"/>
          </a:ln>
        </p:spPr>
      </p:sp>
      <p:pic>
        <p:nvPicPr>
          <p:cNvPr id="8" name="Image 0" descr="/mnt/data/smart_work/figures/image17.png"/>
          <p:cNvPicPr>
            <a:picLocks noChangeAspect="1"/>
          </p:cNvPicPr>
          <p:nvPr/>
        </p:nvPicPr>
        <p:blipFill>
          <a:blip r:embed="rId1"/>
          <a:stretch>
            <a:fillRect/>
          </a:stretch>
        </p:blipFill>
        <p:spPr>
          <a:xfrm>
            <a:off x="1188230" y="1901952"/>
            <a:ext cx="1948651" cy="4334256"/>
          </a:xfrm>
          <a:prstGeom prst="rect">
            <a:avLst/>
          </a:prstGeom>
        </p:spPr>
      </p:pic>
      <p:sp>
        <p:nvSpPr>
          <p:cNvPr id="9" name="Text 6"/>
          <p:cNvSpPr/>
          <p:nvPr/>
        </p:nvSpPr>
        <p:spPr>
          <a:xfrm>
            <a:off x="749808" y="6373368"/>
            <a:ext cx="2825496" cy="182880"/>
          </a:xfrm>
          <a:prstGeom prst="rect">
            <a:avLst/>
          </a:prstGeom>
          <a:noFill/>
        </p:spPr>
        <p:txBody>
          <a:bodyPr wrap="square" lIns="0" tIns="0" rIns="0" bIns="0" rtlCol="0" anchor="ctr">
            <a:normAutofit/>
          </a:bodyPr>
          <a:lstStyle/>
          <a:p>
            <a:pPr marL="0" indent="0" algn="ctr">
              <a:buNone/>
            </a:pPr>
            <a:r>
              <a:rPr lang="en-US" sz="1150" b="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Màn hình quét mã bằng camera</a:t>
            </a:r>
            <a:endParaRPr lang="en-US" sz="1150" dirty="0"/>
          </a:p>
        </p:txBody>
      </p:sp>
      <p:sp>
        <p:nvSpPr>
          <p:cNvPr id="10" name="Shape 7"/>
          <p:cNvSpPr/>
          <p:nvPr/>
        </p:nvSpPr>
        <p:spPr>
          <a:xfrm>
            <a:off x="3995928" y="1892808"/>
            <a:ext cx="1947672" cy="310896"/>
          </a:xfrm>
          <a:prstGeom prst="roundRect">
            <a:avLst>
              <a:gd name="adj" fmla="val 35294"/>
            </a:avLst>
          </a:prstGeom>
          <a:solidFill>
            <a:srgbClr val="EAF3FA"/>
          </a:solidFill>
          <a:ln w="10795">
            <a:solidFill>
              <a:srgbClr val="EAF3FA"/>
            </a:solidFill>
            <a:prstDash val="solid"/>
          </a:ln>
        </p:spPr>
      </p:sp>
      <p:sp>
        <p:nvSpPr>
          <p:cNvPr id="11" name="Text 8"/>
          <p:cNvSpPr/>
          <p:nvPr/>
        </p:nvSpPr>
        <p:spPr>
          <a:xfrm>
            <a:off x="4050792" y="1901952"/>
            <a:ext cx="1837944" cy="265176"/>
          </a:xfrm>
          <a:prstGeom prst="rect">
            <a:avLst/>
          </a:prstGeom>
          <a:noFill/>
        </p:spPr>
        <p:txBody>
          <a:bodyPr wrap="square" lIns="0" tIns="0" rIns="0" bIns="0" rtlCol="0" anchor="ctr">
            <a:normAutofit/>
          </a:bodyPr>
          <a:lstStyle/>
          <a:p>
            <a:pPr marL="0" indent="0" algn="ctr">
              <a:buNone/>
            </a:pPr>
            <a:r>
              <a:rPr lang="en-US" sz="114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QUY TRÌNH QUÉT</a:t>
            </a:r>
            <a:endParaRPr lang="en-US" sz="1140" dirty="0"/>
          </a:p>
        </p:txBody>
      </p:sp>
      <p:sp>
        <p:nvSpPr>
          <p:cNvPr id="12" name="Shape 9"/>
          <p:cNvSpPr/>
          <p:nvPr/>
        </p:nvSpPr>
        <p:spPr>
          <a:xfrm>
            <a:off x="3977640" y="2350008"/>
            <a:ext cx="7269480" cy="786384"/>
          </a:xfrm>
          <a:prstGeom prst="roundRect">
            <a:avLst>
              <a:gd name="adj" fmla="val 13953"/>
            </a:avLst>
          </a:prstGeom>
          <a:solidFill>
            <a:srgbClr val="FFFFFF"/>
          </a:solidFill>
          <a:ln w="10795">
            <a:solidFill>
              <a:srgbClr val="D7E3EE"/>
            </a:solidFill>
            <a:prstDash val="solid"/>
          </a:ln>
        </p:spPr>
      </p:sp>
      <p:sp>
        <p:nvSpPr>
          <p:cNvPr id="13" name="Shape 10"/>
          <p:cNvSpPr/>
          <p:nvPr/>
        </p:nvSpPr>
        <p:spPr>
          <a:xfrm>
            <a:off x="4160520" y="2532888"/>
            <a:ext cx="411480" cy="411480"/>
          </a:xfrm>
          <a:prstGeom prst="ellipse">
            <a:avLst/>
          </a:prstGeom>
          <a:solidFill>
            <a:srgbClr val="1D5EA5"/>
          </a:solidFill>
          <a:ln w="12700">
            <a:solidFill>
              <a:srgbClr val="1D5EA5">
                <a:alpha val="0"/>
              </a:srgbClr>
            </a:solidFill>
            <a:prstDash val="solid"/>
          </a:ln>
        </p:spPr>
      </p:sp>
      <p:sp>
        <p:nvSpPr>
          <p:cNvPr id="14" name="Text 11"/>
          <p:cNvSpPr/>
          <p:nvPr/>
        </p:nvSpPr>
        <p:spPr>
          <a:xfrm>
            <a:off x="4160520" y="2532888"/>
            <a:ext cx="411480" cy="411480"/>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01</a:t>
            </a:r>
            <a:endParaRPr lang="en-US" sz="1200" dirty="0"/>
          </a:p>
        </p:txBody>
      </p:sp>
      <p:sp>
        <p:nvSpPr>
          <p:cNvPr id="15" name="Text 12"/>
          <p:cNvSpPr/>
          <p:nvPr/>
        </p:nvSpPr>
        <p:spPr>
          <a:xfrm>
            <a:off x="4754880" y="2423160"/>
            <a:ext cx="6254496" cy="283464"/>
          </a:xfrm>
          <a:prstGeom prst="rect">
            <a:avLst/>
          </a:prstGeom>
          <a:noFill/>
        </p:spPr>
        <p:txBody>
          <a:bodyPr wrap="square" lIns="0" tIns="0" rIns="0" bIns="0" rtlCol="0" anchor="ctr">
            <a:normAutofit/>
          </a:bodyPr>
          <a:lstStyle/>
          <a:p>
            <a:pPr marL="0" indent="0">
              <a:buNone/>
            </a:pPr>
            <a:r>
              <a:rPr lang="en-US" sz="172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Cấp quyền truy cập camera</a:t>
            </a:r>
            <a:endParaRPr lang="en-US" sz="1720" dirty="0"/>
          </a:p>
        </p:txBody>
      </p:sp>
      <p:sp>
        <p:nvSpPr>
          <p:cNvPr id="16" name="Text 13"/>
          <p:cNvSpPr/>
          <p:nvPr/>
        </p:nvSpPr>
        <p:spPr>
          <a:xfrm>
            <a:off x="4764024" y="2752344"/>
            <a:ext cx="6236208" cy="283464"/>
          </a:xfrm>
          <a:prstGeom prst="rect">
            <a:avLst/>
          </a:prstGeom>
          <a:noFill/>
        </p:spPr>
        <p:txBody>
          <a:bodyPr wrap="square" lIns="0" tIns="0" rIns="0" bIns="0" rtlCol="0" anchor="ctr">
            <a:normAutofit/>
          </a:bodyPr>
          <a:lstStyle/>
          <a:p>
            <a:pPr marL="0" indent="0">
              <a:buNone/>
            </a:pPr>
            <a:r>
              <a:rPr lang="en-US" sz="150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Ứng dụng sử dụng expo-camera và hiển thị vùng quét.</a:t>
            </a:r>
            <a:endParaRPr lang="en-US" sz="1500" dirty="0"/>
          </a:p>
        </p:txBody>
      </p:sp>
      <p:sp>
        <p:nvSpPr>
          <p:cNvPr id="17" name="Shape 14"/>
          <p:cNvSpPr/>
          <p:nvPr/>
        </p:nvSpPr>
        <p:spPr>
          <a:xfrm>
            <a:off x="3977640" y="3255264"/>
            <a:ext cx="7269480" cy="786384"/>
          </a:xfrm>
          <a:prstGeom prst="roundRect">
            <a:avLst>
              <a:gd name="adj" fmla="val 13953"/>
            </a:avLst>
          </a:prstGeom>
          <a:solidFill>
            <a:srgbClr val="FFFFFF"/>
          </a:solidFill>
          <a:ln w="10795">
            <a:solidFill>
              <a:srgbClr val="D7E3EE"/>
            </a:solidFill>
            <a:prstDash val="solid"/>
          </a:ln>
        </p:spPr>
      </p:sp>
      <p:sp>
        <p:nvSpPr>
          <p:cNvPr id="18" name="Shape 15"/>
          <p:cNvSpPr/>
          <p:nvPr/>
        </p:nvSpPr>
        <p:spPr>
          <a:xfrm>
            <a:off x="4160520" y="3438144"/>
            <a:ext cx="411480" cy="411480"/>
          </a:xfrm>
          <a:prstGeom prst="ellipse">
            <a:avLst/>
          </a:prstGeom>
          <a:solidFill>
            <a:srgbClr val="1D5EA5"/>
          </a:solidFill>
          <a:ln w="12700">
            <a:solidFill>
              <a:srgbClr val="1D5EA5">
                <a:alpha val="0"/>
              </a:srgbClr>
            </a:solidFill>
            <a:prstDash val="solid"/>
          </a:ln>
        </p:spPr>
      </p:sp>
      <p:sp>
        <p:nvSpPr>
          <p:cNvPr id="19" name="Text 16"/>
          <p:cNvSpPr/>
          <p:nvPr/>
        </p:nvSpPr>
        <p:spPr>
          <a:xfrm>
            <a:off x="4160520" y="3438144"/>
            <a:ext cx="411480" cy="411480"/>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02</a:t>
            </a:r>
            <a:endParaRPr lang="en-US" sz="1200" dirty="0"/>
          </a:p>
        </p:txBody>
      </p:sp>
      <p:sp>
        <p:nvSpPr>
          <p:cNvPr id="20" name="Text 17"/>
          <p:cNvSpPr/>
          <p:nvPr/>
        </p:nvSpPr>
        <p:spPr>
          <a:xfrm>
            <a:off x="4754880" y="3328416"/>
            <a:ext cx="6254496" cy="283464"/>
          </a:xfrm>
          <a:prstGeom prst="rect">
            <a:avLst/>
          </a:prstGeom>
          <a:noFill/>
        </p:spPr>
        <p:txBody>
          <a:bodyPr wrap="square" lIns="0" tIns="0" rIns="0" bIns="0" rtlCol="0" anchor="ctr">
            <a:normAutofit/>
          </a:bodyPr>
          <a:lstStyle/>
          <a:p>
            <a:pPr marL="0" indent="0">
              <a:buNone/>
            </a:pPr>
            <a:r>
              <a:rPr lang="en-US" sz="172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Nhận mã từ nhãn sách</a:t>
            </a:r>
            <a:endParaRPr lang="en-US" sz="1720" dirty="0"/>
          </a:p>
        </p:txBody>
      </p:sp>
      <p:sp>
        <p:nvSpPr>
          <p:cNvPr id="21" name="Text 18"/>
          <p:cNvSpPr/>
          <p:nvPr/>
        </p:nvSpPr>
        <p:spPr>
          <a:xfrm>
            <a:off x="4764024" y="3657600"/>
            <a:ext cx="6236208" cy="283464"/>
          </a:xfrm>
          <a:prstGeom prst="rect">
            <a:avLst/>
          </a:prstGeom>
          <a:noFill/>
        </p:spPr>
        <p:txBody>
          <a:bodyPr wrap="square" lIns="0" tIns="0" rIns="0" bIns="0" rtlCol="0" anchor="ctr">
            <a:normAutofit/>
          </a:bodyPr>
          <a:lstStyle/>
          <a:p>
            <a:pPr marL="0" indent="0">
              <a:buNone/>
            </a:pPr>
            <a:r>
              <a:rPr lang="en-US" sz="150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Đưa barcode/QR vào khung; sự kiện quét trả về dữ liệu mã.</a:t>
            </a:r>
            <a:endParaRPr lang="en-US" sz="1500" dirty="0"/>
          </a:p>
        </p:txBody>
      </p:sp>
      <p:sp>
        <p:nvSpPr>
          <p:cNvPr id="22" name="Shape 19"/>
          <p:cNvSpPr/>
          <p:nvPr/>
        </p:nvSpPr>
        <p:spPr>
          <a:xfrm>
            <a:off x="3977640" y="4160520"/>
            <a:ext cx="7269480" cy="786384"/>
          </a:xfrm>
          <a:prstGeom prst="roundRect">
            <a:avLst>
              <a:gd name="adj" fmla="val 13953"/>
            </a:avLst>
          </a:prstGeom>
          <a:solidFill>
            <a:srgbClr val="FFFFFF"/>
          </a:solidFill>
          <a:ln w="10795">
            <a:solidFill>
              <a:srgbClr val="D7E3EE"/>
            </a:solidFill>
            <a:prstDash val="solid"/>
          </a:ln>
        </p:spPr>
      </p:sp>
      <p:sp>
        <p:nvSpPr>
          <p:cNvPr id="23" name="Shape 20"/>
          <p:cNvSpPr/>
          <p:nvPr/>
        </p:nvSpPr>
        <p:spPr>
          <a:xfrm>
            <a:off x="4160520" y="4343400"/>
            <a:ext cx="411480" cy="411480"/>
          </a:xfrm>
          <a:prstGeom prst="ellipse">
            <a:avLst/>
          </a:prstGeom>
          <a:solidFill>
            <a:srgbClr val="1D5EA5"/>
          </a:solidFill>
          <a:ln w="12700">
            <a:solidFill>
              <a:srgbClr val="1D5EA5">
                <a:alpha val="0"/>
              </a:srgbClr>
            </a:solidFill>
            <a:prstDash val="solid"/>
          </a:ln>
        </p:spPr>
      </p:sp>
      <p:sp>
        <p:nvSpPr>
          <p:cNvPr id="24" name="Text 21"/>
          <p:cNvSpPr/>
          <p:nvPr/>
        </p:nvSpPr>
        <p:spPr>
          <a:xfrm>
            <a:off x="4160520" y="4343400"/>
            <a:ext cx="411480" cy="411480"/>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03</a:t>
            </a:r>
            <a:endParaRPr lang="en-US" sz="1200" dirty="0"/>
          </a:p>
        </p:txBody>
      </p:sp>
      <p:sp>
        <p:nvSpPr>
          <p:cNvPr id="25" name="Text 22"/>
          <p:cNvSpPr/>
          <p:nvPr/>
        </p:nvSpPr>
        <p:spPr>
          <a:xfrm>
            <a:off x="4754880" y="4233672"/>
            <a:ext cx="6254496" cy="283464"/>
          </a:xfrm>
          <a:prstGeom prst="rect">
            <a:avLst/>
          </a:prstGeom>
          <a:noFill/>
        </p:spPr>
        <p:txBody>
          <a:bodyPr wrap="square" lIns="0" tIns="0" rIns="0" bIns="0" rtlCol="0" anchor="ctr">
            <a:normAutofit/>
          </a:bodyPr>
          <a:lstStyle/>
          <a:p>
            <a:pPr marL="0" indent="0">
              <a:buNone/>
            </a:pPr>
            <a:r>
              <a:rPr lang="en-US" sz="172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Đối chiếu danh mục sách</a:t>
            </a:r>
            <a:endParaRPr lang="en-US" sz="1720" dirty="0"/>
          </a:p>
        </p:txBody>
      </p:sp>
      <p:sp>
        <p:nvSpPr>
          <p:cNvPr id="26" name="Text 23"/>
          <p:cNvSpPr/>
          <p:nvPr/>
        </p:nvSpPr>
        <p:spPr>
          <a:xfrm>
            <a:off x="4764024" y="4562856"/>
            <a:ext cx="6236208" cy="283464"/>
          </a:xfrm>
          <a:prstGeom prst="rect">
            <a:avLst/>
          </a:prstGeom>
          <a:noFill/>
        </p:spPr>
        <p:txBody>
          <a:bodyPr wrap="square" lIns="0" tIns="0" rIns="0" bIns="0" rtlCol="0" anchor="ctr">
            <a:normAutofit/>
          </a:bodyPr>
          <a:lstStyle/>
          <a:p>
            <a:pPr marL="0" indent="0">
              <a:buNone/>
            </a:pPr>
            <a:r>
              <a:rPr lang="en-US" sz="150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Tìm bản ghi tương ứng trong danh sách sách đã tải.</a:t>
            </a:r>
            <a:endParaRPr lang="en-US" sz="1500" dirty="0"/>
          </a:p>
        </p:txBody>
      </p:sp>
      <p:sp>
        <p:nvSpPr>
          <p:cNvPr id="27" name="Shape 24"/>
          <p:cNvSpPr/>
          <p:nvPr/>
        </p:nvSpPr>
        <p:spPr>
          <a:xfrm>
            <a:off x="3977640" y="5065776"/>
            <a:ext cx="7269480" cy="786384"/>
          </a:xfrm>
          <a:prstGeom prst="roundRect">
            <a:avLst>
              <a:gd name="adj" fmla="val 13953"/>
            </a:avLst>
          </a:prstGeom>
          <a:solidFill>
            <a:srgbClr val="FFFFFF"/>
          </a:solidFill>
          <a:ln w="10795">
            <a:solidFill>
              <a:srgbClr val="D7E3EE"/>
            </a:solidFill>
            <a:prstDash val="solid"/>
          </a:ln>
        </p:spPr>
      </p:sp>
      <p:sp>
        <p:nvSpPr>
          <p:cNvPr id="28" name="Shape 25"/>
          <p:cNvSpPr/>
          <p:nvPr/>
        </p:nvSpPr>
        <p:spPr>
          <a:xfrm>
            <a:off x="4160520" y="5248656"/>
            <a:ext cx="411480" cy="411480"/>
          </a:xfrm>
          <a:prstGeom prst="ellipse">
            <a:avLst/>
          </a:prstGeom>
          <a:solidFill>
            <a:srgbClr val="1D5EA5"/>
          </a:solidFill>
          <a:ln w="12700">
            <a:solidFill>
              <a:srgbClr val="1D5EA5">
                <a:alpha val="0"/>
              </a:srgbClr>
            </a:solidFill>
            <a:prstDash val="solid"/>
          </a:ln>
        </p:spPr>
      </p:sp>
      <p:sp>
        <p:nvSpPr>
          <p:cNvPr id="29" name="Text 26"/>
          <p:cNvSpPr/>
          <p:nvPr/>
        </p:nvSpPr>
        <p:spPr>
          <a:xfrm>
            <a:off x="4160520" y="5248656"/>
            <a:ext cx="411480" cy="411480"/>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04</a:t>
            </a:r>
            <a:endParaRPr lang="en-US" sz="1200" dirty="0"/>
          </a:p>
        </p:txBody>
      </p:sp>
      <p:sp>
        <p:nvSpPr>
          <p:cNvPr id="30" name="Text 27"/>
          <p:cNvSpPr/>
          <p:nvPr/>
        </p:nvSpPr>
        <p:spPr>
          <a:xfrm>
            <a:off x="4754880" y="5138928"/>
            <a:ext cx="6254496" cy="283464"/>
          </a:xfrm>
          <a:prstGeom prst="rect">
            <a:avLst/>
          </a:prstGeom>
          <a:noFill/>
        </p:spPr>
        <p:txBody>
          <a:bodyPr wrap="square" lIns="0" tIns="0" rIns="0" bIns="0" rtlCol="0" anchor="ctr">
            <a:normAutofit/>
          </a:bodyPr>
          <a:lstStyle/>
          <a:p>
            <a:pPr marL="0" indent="0">
              <a:buNone/>
            </a:pPr>
            <a:r>
              <a:rPr lang="en-US" sz="172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Xác nhận thao tác</a:t>
            </a:r>
            <a:endParaRPr lang="en-US" sz="1720" dirty="0"/>
          </a:p>
        </p:txBody>
      </p:sp>
      <p:sp>
        <p:nvSpPr>
          <p:cNvPr id="31" name="Text 28"/>
          <p:cNvSpPr/>
          <p:nvPr/>
        </p:nvSpPr>
        <p:spPr>
          <a:xfrm>
            <a:off x="4764024" y="5468112"/>
            <a:ext cx="6236208" cy="283464"/>
          </a:xfrm>
          <a:prstGeom prst="rect">
            <a:avLst/>
          </a:prstGeom>
          <a:noFill/>
        </p:spPr>
        <p:txBody>
          <a:bodyPr wrap="square" lIns="0" tIns="0" rIns="0" bIns="0" rtlCol="0" anchor="ctr">
            <a:normAutofit/>
          </a:bodyPr>
          <a:lstStyle/>
          <a:p>
            <a:pPr marL="0" indent="0">
              <a:buNone/>
            </a:pPr>
            <a:r>
              <a:rPr lang="en-US" sz="150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Nếu hợp lệ, người dùng có thể tiếp tục luồng mượn sách.</a:t>
            </a:r>
            <a:endParaRPr lang="en-US" sz="1500" dirty="0"/>
          </a:p>
        </p:txBody>
      </p:sp>
      <p:sp>
        <p:nvSpPr>
          <p:cNvPr id="32" name="Text 29"/>
          <p:cNvSpPr/>
          <p:nvPr/>
        </p:nvSpPr>
        <p:spPr>
          <a:xfrm>
            <a:off x="4087368" y="6080760"/>
            <a:ext cx="7123176" cy="219456"/>
          </a:xfrm>
          <a:prstGeom prst="rect">
            <a:avLst/>
          </a:prstGeom>
          <a:noFill/>
        </p:spPr>
        <p:txBody>
          <a:bodyPr wrap="square" lIns="0" tIns="0" rIns="0" bIns="0" rtlCol="0" anchor="ctr">
            <a:normAutofit/>
          </a:bodyPr>
          <a:lstStyle/>
          <a:p>
            <a:pPr marL="0" indent="0">
              <a:buNone/>
            </a:pPr>
            <a:r>
              <a:rPr lang="en-US" sz="131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Mã nguồn liên quan: src/app/scan-book.tsx và thư viện expo-camera.</a:t>
            </a:r>
            <a:endParaRPr lang="en-US" sz="1310" dirty="0"/>
          </a:p>
        </p:txBody>
      </p:sp>
      <p:sp>
        <p:nvSpPr>
          <p:cNvPr id="33" name="Shape 30"/>
          <p:cNvSpPr/>
          <p:nvPr/>
        </p:nvSpPr>
        <p:spPr>
          <a:xfrm>
            <a:off x="667512" y="6473952"/>
            <a:ext cx="10835640" cy="0"/>
          </a:xfrm>
          <a:prstGeom prst="line">
            <a:avLst/>
          </a:prstGeom>
          <a:noFill/>
          <a:ln w="10160">
            <a:solidFill>
              <a:srgbClr val="D7E3EE"/>
            </a:solidFill>
            <a:prstDash val="solid"/>
          </a:ln>
        </p:spPr>
      </p:sp>
      <p:sp>
        <p:nvSpPr>
          <p:cNvPr id="34" name="Text 31"/>
          <p:cNvSpPr/>
          <p:nvPr/>
        </p:nvSpPr>
        <p:spPr>
          <a:xfrm>
            <a:off x="704088" y="6556248"/>
            <a:ext cx="9747504" cy="146304"/>
          </a:xfrm>
          <a:prstGeom prst="rect">
            <a:avLst/>
          </a:prstGeom>
          <a:noFill/>
        </p:spPr>
        <p:txBody>
          <a:bodyPr wrap="square" lIns="0" tIns="0" rIns="0" bIns="0" rtlCol="0" anchor="ctr">
            <a:normAutofit/>
          </a:bodyPr>
          <a:lstStyle/>
          <a:p>
            <a:pPr marL="0" indent="0">
              <a:buNone/>
            </a:pPr>
            <a:r>
              <a:rPr lang="en-US" sz="9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SMART LIBRARY  |  BÁO CÁO ĐỒ ÁN PHÁT TRIỂN ỨNG DỤNG DI ĐỘNG</a:t>
            </a:r>
            <a:endParaRPr lang="en-US" sz="950" dirty="0"/>
          </a:p>
        </p:txBody>
      </p:sp>
      <p:sp>
        <p:nvSpPr>
          <p:cNvPr id="35" name="Text 32"/>
          <p:cNvSpPr/>
          <p:nvPr/>
        </p:nvSpPr>
        <p:spPr>
          <a:xfrm>
            <a:off x="10753344" y="6528816"/>
            <a:ext cx="685800" cy="182880"/>
          </a:xfrm>
          <a:prstGeom prst="rect">
            <a:avLst/>
          </a:prstGeom>
          <a:noFill/>
        </p:spPr>
        <p:txBody>
          <a:bodyPr wrap="square" lIns="0" tIns="0" rIns="0" bIns="0" rtlCol="0" anchor="ctr">
            <a:normAutofit/>
          </a:bodyPr>
          <a:lstStyle/>
          <a:p>
            <a:pPr marL="0" indent="0" algn="r">
              <a:buNone/>
            </a:pPr>
            <a:r>
              <a:rPr lang="en-US" sz="105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8 / 10</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Shape 0"/>
          <p:cNvSpPr/>
          <p:nvPr/>
        </p:nvSpPr>
        <p:spPr>
          <a:xfrm>
            <a:off x="0" y="0"/>
            <a:ext cx="12191997" cy="100584"/>
          </a:xfrm>
          <a:prstGeom prst="rect">
            <a:avLst/>
          </a:prstGeom>
          <a:solidFill>
            <a:srgbClr val="1D5EA5"/>
          </a:solidFill>
          <a:ln w="12700">
            <a:solidFill>
              <a:srgbClr val="1D5EA5">
                <a:alpha val="0"/>
              </a:srgbClr>
            </a:solidFill>
            <a:prstDash val="solid"/>
          </a:ln>
        </p:spPr>
      </p:sp>
      <p:sp>
        <p:nvSpPr>
          <p:cNvPr id="3" name="Text 1"/>
          <p:cNvSpPr/>
          <p:nvPr/>
        </p:nvSpPr>
        <p:spPr>
          <a:xfrm>
            <a:off x="658368" y="310896"/>
            <a:ext cx="960120" cy="219456"/>
          </a:xfrm>
          <a:prstGeom prst="rect">
            <a:avLst/>
          </a:prstGeom>
          <a:noFill/>
        </p:spPr>
        <p:txBody>
          <a:bodyPr wrap="square" lIns="0" tIns="0" rIns="0" bIns="0" rtlCol="0" anchor="ctr">
            <a:normAutofit/>
          </a:bodyPr>
          <a:lstStyle/>
          <a:p>
            <a:pPr marL="0" indent="0">
              <a:buNone/>
            </a:pPr>
            <a:r>
              <a:rPr lang="en-US" sz="120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09 / 10</a:t>
            </a:r>
            <a:endParaRPr lang="en-US" sz="1200" dirty="0"/>
          </a:p>
        </p:txBody>
      </p:sp>
      <p:sp>
        <p:nvSpPr>
          <p:cNvPr id="4" name="Text 2"/>
          <p:cNvSpPr/>
          <p:nvPr/>
        </p:nvSpPr>
        <p:spPr>
          <a:xfrm>
            <a:off x="658368" y="649224"/>
            <a:ext cx="10927080" cy="484632"/>
          </a:xfrm>
          <a:prstGeom prst="rect">
            <a:avLst/>
          </a:prstGeom>
          <a:noFill/>
        </p:spPr>
        <p:txBody>
          <a:bodyPr wrap="square" lIns="0" tIns="0" rIns="0" bIns="0" rtlCol="0" anchor="ctr">
            <a:normAutofit/>
          </a:bodyPr>
          <a:lstStyle/>
          <a:p>
            <a:pPr marL="0" indent="0">
              <a:buNone/>
            </a:pPr>
            <a:r>
              <a:rPr lang="en-US" sz="2900" b="1" dirty="0">
                <a:solidFill>
                  <a:srgbClr val="132C4D"/>
                </a:solidFill>
                <a:latin typeface="Times New Roman" panose="02020603050405020304" pitchFamily="34" charset="0"/>
                <a:ea typeface="Times New Roman" panose="02020603050405020304" pitchFamily="34" charset="-122"/>
                <a:cs typeface="Times New Roman" panose="02020603050405020304" pitchFamily="34" charset="-120"/>
              </a:rPr>
              <a:t>CÁC CHỨC NĂNG DÀNH CHO QUẢN THƯ</a:t>
            </a:r>
            <a:endParaRPr lang="en-US" sz="2900" dirty="0"/>
          </a:p>
        </p:txBody>
      </p:sp>
      <p:sp>
        <p:nvSpPr>
          <p:cNvPr id="5" name="Text 3"/>
          <p:cNvSpPr/>
          <p:nvPr/>
        </p:nvSpPr>
        <p:spPr>
          <a:xfrm>
            <a:off x="667512" y="1207008"/>
            <a:ext cx="10835640" cy="338328"/>
          </a:xfrm>
          <a:prstGeom prst="rect">
            <a:avLst/>
          </a:prstGeom>
          <a:noFill/>
        </p:spPr>
        <p:txBody>
          <a:bodyPr wrap="square" lIns="0" tIns="0" rIns="0" bIns="0" rtlCol="0" anchor="ctr">
            <a:normAutofit/>
          </a:bodyPr>
          <a:lstStyle/>
          <a:p>
            <a:pPr marL="0" indent="0">
              <a:buNone/>
            </a:pPr>
            <a:r>
              <a:rPr lang="en-US" sz="1450" i="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Khu vực /librarian và các component quản lý chuyên biệt theo nghiệp vụ.</a:t>
            </a:r>
            <a:endParaRPr lang="en-US" sz="1450" dirty="0"/>
          </a:p>
        </p:txBody>
      </p:sp>
      <p:sp>
        <p:nvSpPr>
          <p:cNvPr id="6" name="Shape 4"/>
          <p:cNvSpPr/>
          <p:nvPr/>
        </p:nvSpPr>
        <p:spPr>
          <a:xfrm>
            <a:off x="649224" y="1664208"/>
            <a:ext cx="10890504" cy="0"/>
          </a:xfrm>
          <a:prstGeom prst="line">
            <a:avLst/>
          </a:prstGeom>
          <a:noFill/>
          <a:ln w="13970">
            <a:solidFill>
              <a:srgbClr val="D7E3EE"/>
            </a:solidFill>
            <a:prstDash val="solid"/>
          </a:ln>
        </p:spPr>
      </p:sp>
      <p:sp>
        <p:nvSpPr>
          <p:cNvPr id="7" name="Shape 5"/>
          <p:cNvSpPr/>
          <p:nvPr/>
        </p:nvSpPr>
        <p:spPr>
          <a:xfrm>
            <a:off x="777240" y="1865376"/>
            <a:ext cx="2240280" cy="4343400"/>
          </a:xfrm>
          <a:prstGeom prst="roundRect">
            <a:avLst>
              <a:gd name="adj" fmla="val 4898"/>
            </a:avLst>
          </a:prstGeom>
          <a:solidFill>
            <a:srgbClr val="FFFFFF"/>
          </a:solidFill>
          <a:ln w="10795">
            <a:solidFill>
              <a:srgbClr val="CDDBEA"/>
            </a:solidFill>
            <a:prstDash val="solid"/>
          </a:ln>
        </p:spPr>
      </p:sp>
      <p:pic>
        <p:nvPicPr>
          <p:cNvPr id="8" name="Image 0" descr="/mnt/data/smart_work/figures/admin_books.png"/>
          <p:cNvPicPr>
            <a:picLocks noChangeAspect="1"/>
          </p:cNvPicPr>
          <p:nvPr/>
        </p:nvPicPr>
        <p:blipFill>
          <a:blip r:embed="rId1"/>
          <a:stretch>
            <a:fillRect/>
          </a:stretch>
        </p:blipFill>
        <p:spPr>
          <a:xfrm>
            <a:off x="890657" y="1929384"/>
            <a:ext cx="2013446" cy="4215384"/>
          </a:xfrm>
          <a:prstGeom prst="rect">
            <a:avLst/>
          </a:prstGeom>
        </p:spPr>
      </p:pic>
      <p:sp>
        <p:nvSpPr>
          <p:cNvPr id="9" name="Text 6"/>
          <p:cNvSpPr/>
          <p:nvPr/>
        </p:nvSpPr>
        <p:spPr>
          <a:xfrm>
            <a:off x="777240" y="6281928"/>
            <a:ext cx="2240280" cy="182880"/>
          </a:xfrm>
          <a:prstGeom prst="rect">
            <a:avLst/>
          </a:prstGeom>
          <a:noFill/>
        </p:spPr>
        <p:txBody>
          <a:bodyPr wrap="square" lIns="0" tIns="0" rIns="0" bIns="0" rtlCol="0" anchor="ctr">
            <a:normAutofit/>
          </a:bodyPr>
          <a:lstStyle/>
          <a:p>
            <a:pPr marL="0" indent="0" algn="ctr">
              <a:buNone/>
            </a:pPr>
            <a:r>
              <a:rPr lang="en-US" sz="1150" b="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Quản lý danh mục sách</a:t>
            </a:r>
            <a:endParaRPr lang="en-US" sz="1150" dirty="0"/>
          </a:p>
        </p:txBody>
      </p:sp>
      <p:sp>
        <p:nvSpPr>
          <p:cNvPr id="10" name="Shape 7"/>
          <p:cNvSpPr/>
          <p:nvPr/>
        </p:nvSpPr>
        <p:spPr>
          <a:xfrm>
            <a:off x="3227832" y="1865376"/>
            <a:ext cx="2240280" cy="4343400"/>
          </a:xfrm>
          <a:prstGeom prst="roundRect">
            <a:avLst>
              <a:gd name="adj" fmla="val 4898"/>
            </a:avLst>
          </a:prstGeom>
          <a:solidFill>
            <a:srgbClr val="FFFFFF"/>
          </a:solidFill>
          <a:ln w="10795">
            <a:solidFill>
              <a:srgbClr val="CDDBEA"/>
            </a:solidFill>
            <a:prstDash val="solid"/>
          </a:ln>
        </p:spPr>
      </p:sp>
      <p:pic>
        <p:nvPicPr>
          <p:cNvPr id="11" name="Image 1" descr="/mnt/data/smart_work/figures/admin_borrow.png"/>
          <p:cNvPicPr>
            <a:picLocks noChangeAspect="1"/>
          </p:cNvPicPr>
          <p:nvPr/>
        </p:nvPicPr>
        <p:blipFill>
          <a:blip r:embed="rId2"/>
          <a:stretch>
            <a:fillRect/>
          </a:stretch>
        </p:blipFill>
        <p:spPr>
          <a:xfrm>
            <a:off x="3291840" y="2011306"/>
            <a:ext cx="2112264" cy="4051541"/>
          </a:xfrm>
          <a:prstGeom prst="rect">
            <a:avLst/>
          </a:prstGeom>
        </p:spPr>
      </p:pic>
      <p:sp>
        <p:nvSpPr>
          <p:cNvPr id="12" name="Text 8"/>
          <p:cNvSpPr/>
          <p:nvPr/>
        </p:nvSpPr>
        <p:spPr>
          <a:xfrm>
            <a:off x="3227832" y="6281928"/>
            <a:ext cx="2240280" cy="182880"/>
          </a:xfrm>
          <a:prstGeom prst="rect">
            <a:avLst/>
          </a:prstGeom>
          <a:noFill/>
        </p:spPr>
        <p:txBody>
          <a:bodyPr wrap="square" lIns="0" tIns="0" rIns="0" bIns="0" rtlCol="0" anchor="ctr">
            <a:normAutofit/>
          </a:bodyPr>
          <a:lstStyle/>
          <a:p>
            <a:pPr marL="0" indent="0" algn="ctr">
              <a:buNone/>
            </a:pPr>
            <a:r>
              <a:rPr lang="en-US" sz="1150" b="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Quản lý mượn và lịch sử</a:t>
            </a:r>
            <a:endParaRPr lang="en-US" sz="1150" dirty="0"/>
          </a:p>
        </p:txBody>
      </p:sp>
      <p:sp>
        <p:nvSpPr>
          <p:cNvPr id="13" name="Shape 9"/>
          <p:cNvSpPr/>
          <p:nvPr/>
        </p:nvSpPr>
        <p:spPr>
          <a:xfrm>
            <a:off x="5760720" y="1965960"/>
            <a:ext cx="329184" cy="329184"/>
          </a:xfrm>
          <a:prstGeom prst="ellipse">
            <a:avLst/>
          </a:prstGeom>
          <a:solidFill>
            <a:srgbClr val="1D5EA5"/>
          </a:solidFill>
          <a:ln w="12700">
            <a:solidFill>
              <a:srgbClr val="1D5EA5">
                <a:alpha val="0"/>
              </a:srgbClr>
            </a:solidFill>
            <a:prstDash val="solid"/>
          </a:ln>
        </p:spPr>
      </p:sp>
      <p:sp>
        <p:nvSpPr>
          <p:cNvPr id="14" name="Text 10"/>
          <p:cNvSpPr/>
          <p:nvPr/>
        </p:nvSpPr>
        <p:spPr>
          <a:xfrm>
            <a:off x="5760720" y="1965960"/>
            <a:ext cx="329184" cy="329184"/>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1</a:t>
            </a:r>
            <a:endParaRPr lang="en-US" sz="1200" dirty="0"/>
          </a:p>
        </p:txBody>
      </p:sp>
      <p:sp>
        <p:nvSpPr>
          <p:cNvPr id="15" name="Text 11"/>
          <p:cNvSpPr/>
          <p:nvPr/>
        </p:nvSpPr>
        <p:spPr>
          <a:xfrm>
            <a:off x="6245352" y="1892808"/>
            <a:ext cx="4956048"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SÁCH</a:t>
            </a:r>
            <a:endParaRPr lang="en-US" sz="1650" dirty="0"/>
          </a:p>
        </p:txBody>
      </p:sp>
      <p:sp>
        <p:nvSpPr>
          <p:cNvPr id="16" name="Text 12"/>
          <p:cNvSpPr/>
          <p:nvPr/>
        </p:nvSpPr>
        <p:spPr>
          <a:xfrm>
            <a:off x="6245352" y="2221992"/>
            <a:ext cx="4937760" cy="438912"/>
          </a:xfrm>
          <a:prstGeom prst="rect">
            <a:avLst/>
          </a:prstGeom>
          <a:noFill/>
        </p:spPr>
        <p:txBody>
          <a:bodyPr wrap="square" lIns="0" tIns="0" rIns="0" bIns="0" rtlCol="0" anchor="t">
            <a:normAutofit/>
          </a:bodyPr>
          <a:lstStyle/>
          <a:p>
            <a:pPr marL="0" indent="0">
              <a:buNone/>
            </a:pPr>
            <a:r>
              <a:rPr lang="en-US" sz="150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Thêm, chỉnh sửa, xóa, cập nhật thông tin và tồn kho.</a:t>
            </a:r>
            <a:endParaRPr lang="en-US" sz="1500" dirty="0"/>
          </a:p>
        </p:txBody>
      </p:sp>
      <p:sp>
        <p:nvSpPr>
          <p:cNvPr id="17" name="Shape 13"/>
          <p:cNvSpPr/>
          <p:nvPr/>
        </p:nvSpPr>
        <p:spPr>
          <a:xfrm>
            <a:off x="5760720" y="2816352"/>
            <a:ext cx="329184" cy="329184"/>
          </a:xfrm>
          <a:prstGeom prst="ellipse">
            <a:avLst/>
          </a:prstGeom>
          <a:solidFill>
            <a:srgbClr val="168A79"/>
          </a:solidFill>
          <a:ln w="12700">
            <a:solidFill>
              <a:srgbClr val="168A79">
                <a:alpha val="0"/>
              </a:srgbClr>
            </a:solidFill>
            <a:prstDash val="solid"/>
          </a:ln>
        </p:spPr>
      </p:sp>
      <p:sp>
        <p:nvSpPr>
          <p:cNvPr id="18" name="Text 14"/>
          <p:cNvSpPr/>
          <p:nvPr/>
        </p:nvSpPr>
        <p:spPr>
          <a:xfrm>
            <a:off x="5760720" y="2816352"/>
            <a:ext cx="329184" cy="329184"/>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2</a:t>
            </a:r>
            <a:endParaRPr lang="en-US" sz="1200" dirty="0"/>
          </a:p>
        </p:txBody>
      </p:sp>
      <p:sp>
        <p:nvSpPr>
          <p:cNvPr id="19" name="Text 15"/>
          <p:cNvSpPr/>
          <p:nvPr/>
        </p:nvSpPr>
        <p:spPr>
          <a:xfrm>
            <a:off x="6245352" y="2743200"/>
            <a:ext cx="4956048"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NGƯỜI DÙNG &amp; THẺ</a:t>
            </a:r>
            <a:endParaRPr lang="en-US" sz="1650" dirty="0"/>
          </a:p>
        </p:txBody>
      </p:sp>
      <p:sp>
        <p:nvSpPr>
          <p:cNvPr id="20" name="Text 16"/>
          <p:cNvSpPr/>
          <p:nvPr/>
        </p:nvSpPr>
        <p:spPr>
          <a:xfrm>
            <a:off x="6245352" y="3072384"/>
            <a:ext cx="4937760" cy="438912"/>
          </a:xfrm>
          <a:prstGeom prst="rect">
            <a:avLst/>
          </a:prstGeom>
          <a:noFill/>
        </p:spPr>
        <p:txBody>
          <a:bodyPr wrap="square" lIns="0" tIns="0" rIns="0" bIns="0" rtlCol="0" anchor="t">
            <a:normAutofit/>
          </a:bodyPr>
          <a:lstStyle/>
          <a:p>
            <a:pPr marL="0" indent="0">
              <a:buNone/>
            </a:pPr>
            <a:r>
              <a:rPr lang="en-US" sz="150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Quản lý tài khoản và thông tin thẻ thư viện/RFID.</a:t>
            </a:r>
            <a:endParaRPr lang="en-US" sz="1500" dirty="0"/>
          </a:p>
        </p:txBody>
      </p:sp>
      <p:sp>
        <p:nvSpPr>
          <p:cNvPr id="21" name="Shape 17"/>
          <p:cNvSpPr/>
          <p:nvPr/>
        </p:nvSpPr>
        <p:spPr>
          <a:xfrm>
            <a:off x="5760720" y="3666744"/>
            <a:ext cx="329184" cy="329184"/>
          </a:xfrm>
          <a:prstGeom prst="ellipse">
            <a:avLst/>
          </a:prstGeom>
          <a:solidFill>
            <a:srgbClr val="1D5EA5"/>
          </a:solidFill>
          <a:ln w="12700">
            <a:solidFill>
              <a:srgbClr val="1D5EA5">
                <a:alpha val="0"/>
              </a:srgbClr>
            </a:solidFill>
            <a:prstDash val="solid"/>
          </a:ln>
        </p:spPr>
      </p:sp>
      <p:sp>
        <p:nvSpPr>
          <p:cNvPr id="22" name="Text 18"/>
          <p:cNvSpPr/>
          <p:nvPr/>
        </p:nvSpPr>
        <p:spPr>
          <a:xfrm>
            <a:off x="5760720" y="3666744"/>
            <a:ext cx="329184" cy="329184"/>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3</a:t>
            </a:r>
            <a:endParaRPr lang="en-US" sz="1200" dirty="0"/>
          </a:p>
        </p:txBody>
      </p:sp>
      <p:sp>
        <p:nvSpPr>
          <p:cNvPr id="23" name="Text 19"/>
          <p:cNvSpPr/>
          <p:nvPr/>
        </p:nvSpPr>
        <p:spPr>
          <a:xfrm>
            <a:off x="6245352" y="3593592"/>
            <a:ext cx="4956048"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GIAO DỊCH</a:t>
            </a:r>
            <a:endParaRPr lang="en-US" sz="1650" dirty="0"/>
          </a:p>
        </p:txBody>
      </p:sp>
      <p:sp>
        <p:nvSpPr>
          <p:cNvPr id="24" name="Text 20"/>
          <p:cNvSpPr/>
          <p:nvPr/>
        </p:nvSpPr>
        <p:spPr>
          <a:xfrm>
            <a:off x="6245352" y="3922776"/>
            <a:ext cx="4937760" cy="438912"/>
          </a:xfrm>
          <a:prstGeom prst="rect">
            <a:avLst/>
          </a:prstGeom>
          <a:noFill/>
        </p:spPr>
        <p:txBody>
          <a:bodyPr wrap="square" lIns="0" tIns="0" rIns="0" bIns="0" rtlCol="0" anchor="t">
            <a:normAutofit/>
          </a:bodyPr>
          <a:lstStyle/>
          <a:p>
            <a:pPr marL="0" indent="0">
              <a:buNone/>
            </a:pPr>
            <a:r>
              <a:rPr lang="en-US" sz="150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Theo dõi yêu cầu mượn, xác nhận trả và sách quá hạn.</a:t>
            </a:r>
            <a:endParaRPr lang="en-US" sz="1500" dirty="0"/>
          </a:p>
        </p:txBody>
      </p:sp>
      <p:sp>
        <p:nvSpPr>
          <p:cNvPr id="25" name="Shape 21"/>
          <p:cNvSpPr/>
          <p:nvPr/>
        </p:nvSpPr>
        <p:spPr>
          <a:xfrm>
            <a:off x="5760720" y="4517136"/>
            <a:ext cx="329184" cy="329184"/>
          </a:xfrm>
          <a:prstGeom prst="ellipse">
            <a:avLst/>
          </a:prstGeom>
          <a:solidFill>
            <a:srgbClr val="168A79"/>
          </a:solidFill>
          <a:ln w="12700">
            <a:solidFill>
              <a:srgbClr val="168A79">
                <a:alpha val="0"/>
              </a:srgbClr>
            </a:solidFill>
            <a:prstDash val="solid"/>
          </a:ln>
        </p:spPr>
      </p:sp>
      <p:sp>
        <p:nvSpPr>
          <p:cNvPr id="26" name="Text 22"/>
          <p:cNvSpPr/>
          <p:nvPr/>
        </p:nvSpPr>
        <p:spPr>
          <a:xfrm>
            <a:off x="5760720" y="4517136"/>
            <a:ext cx="329184" cy="329184"/>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4</a:t>
            </a:r>
            <a:endParaRPr lang="en-US" sz="1200" dirty="0"/>
          </a:p>
        </p:txBody>
      </p:sp>
      <p:sp>
        <p:nvSpPr>
          <p:cNvPr id="27" name="Text 23"/>
          <p:cNvSpPr/>
          <p:nvPr/>
        </p:nvSpPr>
        <p:spPr>
          <a:xfrm>
            <a:off x="6245352" y="4443984"/>
            <a:ext cx="4956048"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THÔNG BÁO</a:t>
            </a:r>
            <a:endParaRPr lang="en-US" sz="1650" dirty="0"/>
          </a:p>
        </p:txBody>
      </p:sp>
      <p:sp>
        <p:nvSpPr>
          <p:cNvPr id="28" name="Text 24"/>
          <p:cNvSpPr/>
          <p:nvPr/>
        </p:nvSpPr>
        <p:spPr>
          <a:xfrm>
            <a:off x="6245352" y="4773168"/>
            <a:ext cx="4937760" cy="438912"/>
          </a:xfrm>
          <a:prstGeom prst="rect">
            <a:avLst/>
          </a:prstGeom>
          <a:noFill/>
        </p:spPr>
        <p:txBody>
          <a:bodyPr wrap="square" lIns="0" tIns="0" rIns="0" bIns="0" rtlCol="0" anchor="t">
            <a:normAutofit/>
          </a:bodyPr>
          <a:lstStyle/>
          <a:p>
            <a:pPr marL="0" indent="0">
              <a:buNone/>
            </a:pPr>
            <a:r>
              <a:rPr lang="en-US" sz="150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Tạo và quản lý nội dung thông báo trong ứng dụng.</a:t>
            </a:r>
            <a:endParaRPr lang="en-US" sz="1500" dirty="0"/>
          </a:p>
        </p:txBody>
      </p:sp>
      <p:sp>
        <p:nvSpPr>
          <p:cNvPr id="29" name="Shape 25"/>
          <p:cNvSpPr/>
          <p:nvPr/>
        </p:nvSpPr>
        <p:spPr>
          <a:xfrm>
            <a:off x="5760720" y="5367528"/>
            <a:ext cx="329184" cy="329184"/>
          </a:xfrm>
          <a:prstGeom prst="ellipse">
            <a:avLst/>
          </a:prstGeom>
          <a:solidFill>
            <a:srgbClr val="1D5EA5"/>
          </a:solidFill>
          <a:ln w="12700">
            <a:solidFill>
              <a:srgbClr val="1D5EA5">
                <a:alpha val="0"/>
              </a:srgbClr>
            </a:solidFill>
            <a:prstDash val="solid"/>
          </a:ln>
        </p:spPr>
      </p:sp>
      <p:sp>
        <p:nvSpPr>
          <p:cNvPr id="30" name="Text 26"/>
          <p:cNvSpPr/>
          <p:nvPr/>
        </p:nvSpPr>
        <p:spPr>
          <a:xfrm>
            <a:off x="5760720" y="5367528"/>
            <a:ext cx="329184" cy="329184"/>
          </a:xfrm>
          <a:prstGeom prst="rect">
            <a:avLst/>
          </a:prstGeom>
          <a:noFill/>
        </p:spPr>
        <p:txBody>
          <a:bodyPr wrap="square" lIns="0" tIns="0" rIns="0" bIns="0" rtlCol="0" anchor="ctr">
            <a:normAutofit/>
          </a:bodyPr>
          <a:lstStyle/>
          <a:p>
            <a:pPr marL="0" indent="0" algn="ctr">
              <a:buNone/>
            </a:pPr>
            <a:r>
              <a:rPr lang="en-US" sz="12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5</a:t>
            </a:r>
            <a:endParaRPr lang="en-US" sz="1200" dirty="0"/>
          </a:p>
        </p:txBody>
      </p:sp>
      <p:sp>
        <p:nvSpPr>
          <p:cNvPr id="31" name="Text 27"/>
          <p:cNvSpPr/>
          <p:nvPr/>
        </p:nvSpPr>
        <p:spPr>
          <a:xfrm>
            <a:off x="6245352" y="5294376"/>
            <a:ext cx="4956048" cy="274320"/>
          </a:xfrm>
          <a:prstGeom prst="rect">
            <a:avLst/>
          </a:prstGeom>
          <a:noFill/>
        </p:spPr>
        <p:txBody>
          <a:bodyPr wrap="square" lIns="0" tIns="0" rIns="0" bIns="0" rtlCol="0" anchor="ctr">
            <a:normAutofit/>
          </a:bodyPr>
          <a:lstStyle/>
          <a:p>
            <a:pPr marL="0" indent="0">
              <a:buNone/>
            </a:pPr>
            <a:r>
              <a:rPr lang="en-US" sz="1650" b="1"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THỐNG KÊ</a:t>
            </a:r>
            <a:endParaRPr lang="en-US" sz="1650" dirty="0"/>
          </a:p>
        </p:txBody>
      </p:sp>
      <p:sp>
        <p:nvSpPr>
          <p:cNvPr id="32" name="Text 28"/>
          <p:cNvSpPr/>
          <p:nvPr/>
        </p:nvSpPr>
        <p:spPr>
          <a:xfrm>
            <a:off x="6245352" y="5623560"/>
            <a:ext cx="4937760" cy="438912"/>
          </a:xfrm>
          <a:prstGeom prst="rect">
            <a:avLst/>
          </a:prstGeom>
          <a:noFill/>
        </p:spPr>
        <p:txBody>
          <a:bodyPr wrap="square" lIns="0" tIns="0" rIns="0" bIns="0" rtlCol="0" anchor="t">
            <a:normAutofit/>
          </a:bodyPr>
          <a:lstStyle/>
          <a:p>
            <a:pPr marL="0" indent="0">
              <a:buNone/>
            </a:pPr>
            <a:r>
              <a:rPr lang="en-US" sz="150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Theo dõi số lượng sách, người dùng và trạng thái mượn/trả.</a:t>
            </a:r>
            <a:endParaRPr lang="en-US" sz="1500" dirty="0"/>
          </a:p>
        </p:txBody>
      </p:sp>
      <p:sp>
        <p:nvSpPr>
          <p:cNvPr id="33" name="Shape 29"/>
          <p:cNvSpPr/>
          <p:nvPr/>
        </p:nvSpPr>
        <p:spPr>
          <a:xfrm>
            <a:off x="667512" y="6473952"/>
            <a:ext cx="10835640" cy="0"/>
          </a:xfrm>
          <a:prstGeom prst="line">
            <a:avLst/>
          </a:prstGeom>
          <a:noFill/>
          <a:ln w="10160">
            <a:solidFill>
              <a:srgbClr val="D7E3EE"/>
            </a:solidFill>
            <a:prstDash val="solid"/>
          </a:ln>
        </p:spPr>
      </p:sp>
      <p:sp>
        <p:nvSpPr>
          <p:cNvPr id="34" name="Text 30"/>
          <p:cNvSpPr/>
          <p:nvPr/>
        </p:nvSpPr>
        <p:spPr>
          <a:xfrm>
            <a:off x="704088" y="6556248"/>
            <a:ext cx="9747504" cy="146304"/>
          </a:xfrm>
          <a:prstGeom prst="rect">
            <a:avLst/>
          </a:prstGeom>
          <a:noFill/>
        </p:spPr>
        <p:txBody>
          <a:bodyPr wrap="square" lIns="0" tIns="0" rIns="0" bIns="0" rtlCol="0" anchor="ctr">
            <a:normAutofit/>
          </a:bodyPr>
          <a:lstStyle/>
          <a:p>
            <a:pPr marL="0" indent="0">
              <a:buNone/>
            </a:pPr>
            <a:r>
              <a:rPr lang="en-US" sz="9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SMART LIBRARY  |  BÁO CÁO ĐỒ ÁN PHÁT TRIỂN ỨNG DỤNG DI ĐỘNG</a:t>
            </a:r>
            <a:endParaRPr lang="en-US" sz="950" dirty="0"/>
          </a:p>
        </p:txBody>
      </p:sp>
      <p:sp>
        <p:nvSpPr>
          <p:cNvPr id="35" name="Text 31"/>
          <p:cNvSpPr/>
          <p:nvPr/>
        </p:nvSpPr>
        <p:spPr>
          <a:xfrm>
            <a:off x="10753344" y="6528816"/>
            <a:ext cx="685800" cy="182880"/>
          </a:xfrm>
          <a:prstGeom prst="rect">
            <a:avLst/>
          </a:prstGeom>
          <a:noFill/>
        </p:spPr>
        <p:txBody>
          <a:bodyPr wrap="square" lIns="0" tIns="0" rIns="0" bIns="0" rtlCol="0" anchor="ctr">
            <a:normAutofit/>
          </a:bodyPr>
          <a:lstStyle/>
          <a:p>
            <a:pPr marL="0" indent="0" algn="r">
              <a:buNone/>
            </a:pPr>
            <a:r>
              <a:rPr lang="en-US" sz="105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9 / 10</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Shape 0"/>
          <p:cNvSpPr/>
          <p:nvPr/>
        </p:nvSpPr>
        <p:spPr>
          <a:xfrm>
            <a:off x="0" y="0"/>
            <a:ext cx="12191997" cy="100584"/>
          </a:xfrm>
          <a:prstGeom prst="rect">
            <a:avLst/>
          </a:prstGeom>
          <a:solidFill>
            <a:srgbClr val="1D5EA5"/>
          </a:solidFill>
          <a:ln w="12700">
            <a:solidFill>
              <a:srgbClr val="1D5EA5">
                <a:alpha val="0"/>
              </a:srgbClr>
            </a:solidFill>
            <a:prstDash val="solid"/>
          </a:ln>
        </p:spPr>
      </p:sp>
      <p:sp>
        <p:nvSpPr>
          <p:cNvPr id="3" name="Text 1"/>
          <p:cNvSpPr/>
          <p:nvPr/>
        </p:nvSpPr>
        <p:spPr>
          <a:xfrm>
            <a:off x="658368" y="310896"/>
            <a:ext cx="960120" cy="219456"/>
          </a:xfrm>
          <a:prstGeom prst="rect">
            <a:avLst/>
          </a:prstGeom>
          <a:noFill/>
        </p:spPr>
        <p:txBody>
          <a:bodyPr wrap="square" lIns="0" tIns="0" rIns="0" bIns="0" rtlCol="0" anchor="ctr">
            <a:normAutofit/>
          </a:bodyPr>
          <a:lstStyle/>
          <a:p>
            <a:pPr marL="0" indent="0">
              <a:buNone/>
            </a:pPr>
            <a:r>
              <a:rPr lang="en-US" sz="120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10 / 10</a:t>
            </a:r>
            <a:endParaRPr lang="en-US" sz="1200" dirty="0"/>
          </a:p>
        </p:txBody>
      </p:sp>
      <p:sp>
        <p:nvSpPr>
          <p:cNvPr id="4" name="Text 2"/>
          <p:cNvSpPr/>
          <p:nvPr/>
        </p:nvSpPr>
        <p:spPr>
          <a:xfrm>
            <a:off x="658368" y="649224"/>
            <a:ext cx="10927080" cy="484632"/>
          </a:xfrm>
          <a:prstGeom prst="rect">
            <a:avLst/>
          </a:prstGeom>
          <a:noFill/>
        </p:spPr>
        <p:txBody>
          <a:bodyPr wrap="square" lIns="0" tIns="0" rIns="0" bIns="0" rtlCol="0" anchor="ctr">
            <a:normAutofit/>
          </a:bodyPr>
          <a:lstStyle/>
          <a:p>
            <a:pPr marL="0" indent="0">
              <a:buNone/>
            </a:pPr>
            <a:r>
              <a:rPr lang="en-US" sz="2900" b="1" dirty="0">
                <a:solidFill>
                  <a:srgbClr val="132C4D"/>
                </a:solidFill>
                <a:latin typeface="Times New Roman" panose="02020603050405020304" pitchFamily="34" charset="0"/>
                <a:ea typeface="Times New Roman" panose="02020603050405020304" pitchFamily="34" charset="-122"/>
                <a:cs typeface="Times New Roman" panose="02020603050405020304" pitchFamily="34" charset="-120"/>
              </a:rPr>
              <a:t>KẾT QUẢ, HẠN CHẾ VÀ HƯỚNG PHÁT TRIỂN</a:t>
            </a:r>
            <a:endParaRPr lang="en-US" sz="2900" dirty="0"/>
          </a:p>
        </p:txBody>
      </p:sp>
      <p:sp>
        <p:nvSpPr>
          <p:cNvPr id="5" name="Text 3"/>
          <p:cNvSpPr/>
          <p:nvPr/>
        </p:nvSpPr>
        <p:spPr>
          <a:xfrm>
            <a:off x="667512" y="1207008"/>
            <a:ext cx="10835640" cy="338328"/>
          </a:xfrm>
          <a:prstGeom prst="rect">
            <a:avLst/>
          </a:prstGeom>
          <a:noFill/>
        </p:spPr>
        <p:txBody>
          <a:bodyPr wrap="square" lIns="0" tIns="0" rIns="0" bIns="0" rtlCol="0" anchor="ctr">
            <a:normAutofit/>
          </a:bodyPr>
          <a:lstStyle/>
          <a:p>
            <a:pPr marL="0" indent="0">
              <a:buNone/>
            </a:pPr>
            <a:r>
              <a:rPr lang="en-US" sz="1450" i="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Tổng hợp mức độ triển khai đã có minh chứng và các bước hoàn thiện tiếp theo.</a:t>
            </a:r>
            <a:endParaRPr lang="en-US" sz="1450" dirty="0"/>
          </a:p>
        </p:txBody>
      </p:sp>
      <p:sp>
        <p:nvSpPr>
          <p:cNvPr id="6" name="Shape 4"/>
          <p:cNvSpPr/>
          <p:nvPr/>
        </p:nvSpPr>
        <p:spPr>
          <a:xfrm>
            <a:off x="649224" y="1664208"/>
            <a:ext cx="10890504" cy="0"/>
          </a:xfrm>
          <a:prstGeom prst="line">
            <a:avLst/>
          </a:prstGeom>
          <a:noFill/>
          <a:ln w="13970">
            <a:solidFill>
              <a:srgbClr val="D7E3EE"/>
            </a:solidFill>
            <a:prstDash val="solid"/>
          </a:ln>
        </p:spPr>
      </p:sp>
      <p:sp>
        <p:nvSpPr>
          <p:cNvPr id="7" name="Shape 5"/>
          <p:cNvSpPr/>
          <p:nvPr/>
        </p:nvSpPr>
        <p:spPr>
          <a:xfrm>
            <a:off x="740664" y="1865376"/>
            <a:ext cx="2286000" cy="4379976"/>
          </a:xfrm>
          <a:prstGeom prst="roundRect">
            <a:avLst>
              <a:gd name="adj" fmla="val 4800"/>
            </a:avLst>
          </a:prstGeom>
          <a:solidFill>
            <a:srgbClr val="FFFFFF"/>
          </a:solidFill>
          <a:ln w="10795">
            <a:solidFill>
              <a:srgbClr val="CDDBEA"/>
            </a:solidFill>
            <a:prstDash val="solid"/>
          </a:ln>
        </p:spPr>
      </p:sp>
      <p:pic>
        <p:nvPicPr>
          <p:cNvPr id="8" name="Image 0" descr="/mnt/data/smart_work/figures/admin_stats.png"/>
          <p:cNvPicPr>
            <a:picLocks noChangeAspect="1"/>
          </p:cNvPicPr>
          <p:nvPr/>
        </p:nvPicPr>
        <p:blipFill>
          <a:blip r:embed="rId1"/>
          <a:stretch>
            <a:fillRect/>
          </a:stretch>
        </p:blipFill>
        <p:spPr>
          <a:xfrm>
            <a:off x="833533" y="1929384"/>
            <a:ext cx="2100263" cy="4251960"/>
          </a:xfrm>
          <a:prstGeom prst="rect">
            <a:avLst/>
          </a:prstGeom>
        </p:spPr>
      </p:pic>
      <p:sp>
        <p:nvSpPr>
          <p:cNvPr id="9" name="Text 6"/>
          <p:cNvSpPr/>
          <p:nvPr/>
        </p:nvSpPr>
        <p:spPr>
          <a:xfrm>
            <a:off x="740664" y="6318504"/>
            <a:ext cx="2286000" cy="182880"/>
          </a:xfrm>
          <a:prstGeom prst="rect">
            <a:avLst/>
          </a:prstGeom>
          <a:noFill/>
        </p:spPr>
        <p:txBody>
          <a:bodyPr wrap="square" lIns="0" tIns="0" rIns="0" bIns="0" rtlCol="0" anchor="ctr">
            <a:normAutofit/>
          </a:bodyPr>
          <a:lstStyle/>
          <a:p>
            <a:pPr marL="0" indent="0" algn="ctr">
              <a:buNone/>
            </a:pPr>
            <a:r>
              <a:rPr lang="en-US" sz="1150" b="1"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Giao diện thống kê quản thư</a:t>
            </a:r>
            <a:endParaRPr lang="en-US" sz="1150" dirty="0"/>
          </a:p>
        </p:txBody>
      </p:sp>
      <p:sp>
        <p:nvSpPr>
          <p:cNvPr id="10" name="Shape 7"/>
          <p:cNvSpPr/>
          <p:nvPr/>
        </p:nvSpPr>
        <p:spPr>
          <a:xfrm>
            <a:off x="3374136" y="1856232"/>
            <a:ext cx="8019288" cy="1161288"/>
          </a:xfrm>
          <a:prstGeom prst="roundRect">
            <a:avLst>
              <a:gd name="adj" fmla="val 9449"/>
            </a:avLst>
          </a:prstGeom>
          <a:solidFill>
            <a:srgbClr val="EAF8F2"/>
          </a:solidFill>
          <a:ln w="10795">
            <a:solidFill>
              <a:srgbClr val="EAF8F2"/>
            </a:solidFill>
            <a:prstDash val="solid"/>
          </a:ln>
        </p:spPr>
      </p:sp>
      <p:sp>
        <p:nvSpPr>
          <p:cNvPr id="11" name="Text 8"/>
          <p:cNvSpPr/>
          <p:nvPr/>
        </p:nvSpPr>
        <p:spPr>
          <a:xfrm>
            <a:off x="3611880" y="1975104"/>
            <a:ext cx="7525512" cy="301752"/>
          </a:xfrm>
          <a:prstGeom prst="rect">
            <a:avLst/>
          </a:prstGeom>
          <a:noFill/>
        </p:spPr>
        <p:txBody>
          <a:bodyPr wrap="square" lIns="0" tIns="0" rIns="0" bIns="0" rtlCol="0" anchor="ctr">
            <a:normAutofit/>
          </a:bodyPr>
          <a:lstStyle/>
          <a:p>
            <a:pPr marL="0" indent="0">
              <a:buNone/>
            </a:pPr>
            <a:r>
              <a:rPr lang="en-US" sz="1800" b="1" dirty="0">
                <a:solidFill>
                  <a:srgbClr val="168A79"/>
                </a:solidFill>
                <a:latin typeface="Times New Roman" panose="02020603050405020304" pitchFamily="34" charset="0"/>
                <a:ea typeface="Times New Roman" panose="02020603050405020304" pitchFamily="34" charset="-122"/>
                <a:cs typeface="Times New Roman" panose="02020603050405020304" pitchFamily="34" charset="-120"/>
              </a:rPr>
              <a:t>KẾT QUẢ ĐÃ THỂ HIỆN</a:t>
            </a:r>
            <a:endParaRPr lang="en-US" sz="1800" dirty="0"/>
          </a:p>
        </p:txBody>
      </p:sp>
      <p:sp>
        <p:nvSpPr>
          <p:cNvPr id="12" name="Text 9"/>
          <p:cNvSpPr/>
          <p:nvPr/>
        </p:nvSpPr>
        <p:spPr>
          <a:xfrm>
            <a:off x="3611880" y="2359152"/>
            <a:ext cx="7415784" cy="521208"/>
          </a:xfrm>
          <a:prstGeom prst="rect">
            <a:avLst/>
          </a:prstGeom>
          <a:noFill/>
        </p:spPr>
        <p:txBody>
          <a:bodyPr wrap="square" lIns="0" tIns="0" rIns="0" bIns="0" rtlCol="0" anchor="ctr">
            <a:normAutofit/>
          </a:bodyPr>
          <a:lstStyle/>
          <a:p>
            <a:pPr marL="0" indent="0">
              <a:buNone/>
            </a:pPr>
            <a:r>
              <a:rPr lang="en-US" sz="1590"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Ứng dụng hai vai trò; đăng nhập/đăng ký; tìm sách; mượn/trả; quét mã; quản lý sách, tài khoản, giao dịch và thống kê.</a:t>
            </a:r>
            <a:endParaRPr lang="en-US" sz="1590" dirty="0"/>
          </a:p>
        </p:txBody>
      </p:sp>
      <p:sp>
        <p:nvSpPr>
          <p:cNvPr id="13" name="Shape 10"/>
          <p:cNvSpPr/>
          <p:nvPr/>
        </p:nvSpPr>
        <p:spPr>
          <a:xfrm>
            <a:off x="3374136" y="3182112"/>
            <a:ext cx="8019288" cy="1289304"/>
          </a:xfrm>
          <a:prstGeom prst="roundRect">
            <a:avLst>
              <a:gd name="adj" fmla="val 8511"/>
            </a:avLst>
          </a:prstGeom>
          <a:solidFill>
            <a:srgbClr val="FFF5E5"/>
          </a:solidFill>
          <a:ln w="10795">
            <a:solidFill>
              <a:srgbClr val="FFF5E5"/>
            </a:solidFill>
            <a:prstDash val="solid"/>
          </a:ln>
        </p:spPr>
      </p:sp>
      <p:sp>
        <p:nvSpPr>
          <p:cNvPr id="14" name="Text 11"/>
          <p:cNvSpPr/>
          <p:nvPr/>
        </p:nvSpPr>
        <p:spPr>
          <a:xfrm>
            <a:off x="3611880" y="3291840"/>
            <a:ext cx="7525512" cy="320040"/>
          </a:xfrm>
          <a:prstGeom prst="rect">
            <a:avLst/>
          </a:prstGeom>
          <a:noFill/>
        </p:spPr>
        <p:txBody>
          <a:bodyPr wrap="square" lIns="0" tIns="0" rIns="0" bIns="0" rtlCol="0" anchor="ctr">
            <a:normAutofit/>
          </a:bodyPr>
          <a:lstStyle/>
          <a:p>
            <a:pPr marL="0" indent="0">
              <a:buNone/>
            </a:pPr>
            <a:r>
              <a:rPr lang="en-US" sz="1800" b="1" dirty="0">
                <a:solidFill>
                  <a:srgbClr val="A96620"/>
                </a:solidFill>
                <a:latin typeface="Times New Roman" panose="02020603050405020304" pitchFamily="34" charset="0"/>
                <a:ea typeface="Times New Roman" panose="02020603050405020304" pitchFamily="34" charset="-122"/>
                <a:cs typeface="Times New Roman" panose="02020603050405020304" pitchFamily="34" charset="-120"/>
              </a:rPr>
              <a:t>HẠN CHẾ CẦN KHẮC PHỤC</a:t>
            </a:r>
            <a:endParaRPr lang="en-US" sz="1800" dirty="0"/>
          </a:p>
        </p:txBody>
      </p:sp>
      <p:sp>
        <p:nvSpPr>
          <p:cNvPr id="15" name="Text 12"/>
          <p:cNvSpPr/>
          <p:nvPr/>
        </p:nvSpPr>
        <p:spPr>
          <a:xfrm>
            <a:off x="3611880" y="3694176"/>
            <a:ext cx="7488936" cy="630936"/>
          </a:xfrm>
          <a:prstGeom prst="rect">
            <a:avLst/>
          </a:prstGeom>
          <a:noFill/>
        </p:spPr>
        <p:txBody>
          <a:bodyPr wrap="square" lIns="0" tIns="0" rIns="0" bIns="0" rtlCol="0" anchor="ctr">
            <a:normAutofit/>
          </a:bodyPr>
          <a:lstStyle/>
          <a:p>
            <a:pPr marL="0" indent="0">
              <a:buNone/>
            </a:pPr>
            <a:r>
              <a:rPr lang="en-US" sz="1550" dirty="0">
                <a:solidFill>
                  <a:srgbClr val="13263E"/>
                </a:solidFill>
                <a:latin typeface="Times New Roman" panose="02020603050405020304" pitchFamily="34" charset="0"/>
                <a:ea typeface="Times New Roman" panose="02020603050405020304" pitchFamily="34" charset="-122"/>
                <a:cs typeface="Times New Roman" panose="02020603050405020304" pitchFamily="34" charset="-120"/>
              </a:rPr>
              <a:t>Chưa có kết quả đo hiệu năng và kiểm thử định lượng; cần củng cố bảo mật Firebase Rules và tính nhất quán khi nhiều người mượn/trả cùng lúc.</a:t>
            </a:r>
            <a:endParaRPr lang="en-US" sz="1550" dirty="0"/>
          </a:p>
        </p:txBody>
      </p:sp>
      <p:sp>
        <p:nvSpPr>
          <p:cNvPr id="19" name="Shape 16"/>
          <p:cNvSpPr/>
          <p:nvPr/>
        </p:nvSpPr>
        <p:spPr>
          <a:xfrm>
            <a:off x="667512" y="6473952"/>
            <a:ext cx="10835640" cy="0"/>
          </a:xfrm>
          <a:prstGeom prst="line">
            <a:avLst/>
          </a:prstGeom>
          <a:noFill/>
          <a:ln w="10160">
            <a:solidFill>
              <a:srgbClr val="D7E3EE"/>
            </a:solidFill>
            <a:prstDash val="solid"/>
          </a:ln>
        </p:spPr>
      </p:sp>
      <p:sp>
        <p:nvSpPr>
          <p:cNvPr id="20" name="Text 17"/>
          <p:cNvSpPr/>
          <p:nvPr/>
        </p:nvSpPr>
        <p:spPr>
          <a:xfrm>
            <a:off x="704088" y="6556248"/>
            <a:ext cx="9747504" cy="146304"/>
          </a:xfrm>
          <a:prstGeom prst="rect">
            <a:avLst/>
          </a:prstGeom>
          <a:noFill/>
        </p:spPr>
        <p:txBody>
          <a:bodyPr wrap="square" lIns="0" tIns="0" rIns="0" bIns="0" rtlCol="0" anchor="ctr">
            <a:normAutofit/>
          </a:bodyPr>
          <a:lstStyle/>
          <a:p>
            <a:pPr marL="0" indent="0">
              <a:buNone/>
            </a:pPr>
            <a:r>
              <a:rPr lang="en-US" sz="950" dirty="0">
                <a:solidFill>
                  <a:srgbClr val="4B6176"/>
                </a:solidFill>
                <a:latin typeface="Times New Roman" panose="02020603050405020304" pitchFamily="34" charset="0"/>
                <a:ea typeface="Times New Roman" panose="02020603050405020304" pitchFamily="34" charset="-122"/>
                <a:cs typeface="Times New Roman" panose="02020603050405020304" pitchFamily="34" charset="-120"/>
              </a:rPr>
              <a:t>SMART LIBRARY  |  BÁO CÁO ĐỒ ÁN PHÁT TRIỂN ỨNG DỤNG DI ĐỘNG</a:t>
            </a:r>
            <a:endParaRPr lang="en-US" sz="950" dirty="0"/>
          </a:p>
        </p:txBody>
      </p:sp>
      <p:sp>
        <p:nvSpPr>
          <p:cNvPr id="21" name="Text 18"/>
          <p:cNvSpPr/>
          <p:nvPr/>
        </p:nvSpPr>
        <p:spPr>
          <a:xfrm>
            <a:off x="10753344" y="6528816"/>
            <a:ext cx="685800" cy="182880"/>
          </a:xfrm>
          <a:prstGeom prst="rect">
            <a:avLst/>
          </a:prstGeom>
          <a:noFill/>
        </p:spPr>
        <p:txBody>
          <a:bodyPr wrap="square" lIns="0" tIns="0" rIns="0" bIns="0" rtlCol="0" anchor="ctr">
            <a:normAutofit/>
          </a:bodyPr>
          <a:lstStyle/>
          <a:p>
            <a:pPr marL="0" indent="0" algn="r">
              <a:buNone/>
            </a:pPr>
            <a:r>
              <a:rPr lang="en-US" sz="1050" b="1" dirty="0">
                <a:solidFill>
                  <a:srgbClr val="1D5EA5"/>
                </a:solidFill>
                <a:latin typeface="Times New Roman" panose="02020603050405020304" pitchFamily="34" charset="0"/>
                <a:ea typeface="Times New Roman" panose="02020603050405020304" pitchFamily="34" charset="-122"/>
                <a:cs typeface="Times New Roman" panose="02020603050405020304" pitchFamily="34" charset="-120"/>
              </a:rPr>
              <a:t>10 / 10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5302</Words>
  <Application>WPS Presentation</Application>
  <PresentationFormat>On-screen Show (16:9)</PresentationFormat>
  <Paragraphs>331</Paragraphs>
  <Slides>10</Slides>
  <Notes>10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Arial</vt:lpstr>
      <vt:lpstr>SimSun</vt:lpstr>
      <vt:lpstr>Wingdings</vt:lpstr>
      <vt:lpstr>Times New Roman</vt:lpstr>
      <vt:lpstr>Times New Roman</vt:lpstr>
      <vt:lpstr>Times New Roman</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Library - Báo cáo tóm tắt 10 slide (bản chi tiết)</dc:title>
  <dc:creator>Nhóm Smart Library</dc:creator>
  <dc:subject>Báo cáo đồ án môn Phát triển Ứng dụng Di động</dc:subject>
  <cp:lastModifiedBy>Trung Lê</cp:lastModifiedBy>
  <cp:revision>2</cp:revision>
  <dcterms:created xsi:type="dcterms:W3CDTF">2026-10-28T14:26:00Z</dcterms:created>
  <dcterms:modified xsi:type="dcterms:W3CDTF">2026-10-28T14:33:29Z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037FB5C14586420DA8C1AB3E98A6BA03_12</vt:lpwstr>
  </property>
</Properties>
</file>